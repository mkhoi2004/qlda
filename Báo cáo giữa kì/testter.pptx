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87" r:id="rId18"/>
    <p:sldId id="288" r:id="rId19"/>
    <p:sldId id="289" r:id="rId20"/>
    <p:sldId id="290" r:id="rId21"/>
    <p:sldId id="291" r:id="rId22"/>
    <p:sldId id="273" r:id="rId23"/>
    <p:sldId id="274" r:id="rId24"/>
    <p:sldId id="275" r:id="rId25"/>
    <p:sldId id="297" r:id="rId26"/>
    <p:sldId id="276" r:id="rId27"/>
    <p:sldId id="277" r:id="rId28"/>
    <p:sldId id="278" r:id="rId29"/>
    <p:sldId id="279" r:id="rId30"/>
    <p:sldId id="280" r:id="rId31"/>
    <p:sldId id="281" r:id="rId32"/>
    <p:sldId id="282" r:id="rId33"/>
    <p:sldId id="292" r:id="rId34"/>
    <p:sldId id="293" r:id="rId35"/>
    <p:sldId id="294" r:id="rId36"/>
    <p:sldId id="295" r:id="rId37"/>
    <p:sldId id="296" r:id="rId38"/>
    <p:sldId id="283" r:id="rId39"/>
    <p:sldId id="284" r:id="rId40"/>
    <p:sldId id="285" r:id="rId41"/>
    <p:sldId id="28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Kiểu Trung bình 2 - Màu chủ đề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59" d="100"/>
          <a:sy n="59" d="100"/>
        </p:scale>
        <p:origin x="1000"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6E7F1-F740-FAD0-DB14-E939EA3C93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0B93DC-F0D0-7675-0DE0-319E33BB78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CC0D17E-3F36-FF86-14B5-B963FF86FB5E}"/>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5" name="Footer Placeholder 4">
            <a:extLst>
              <a:ext uri="{FF2B5EF4-FFF2-40B4-BE49-F238E27FC236}">
                <a16:creationId xmlns:a16="http://schemas.microsoft.com/office/drawing/2014/main" id="{9E7E3247-1062-A208-B646-67E16C23A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6F911E-96B6-7AFC-81F4-28A4B05B65A7}"/>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821902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7E47F-9726-4224-07D6-508036EE6C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FAFDF8-9A92-B464-1ACB-8D9FB86F8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07C52-5AB9-5722-51F9-7C53771B42BC}"/>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5" name="Footer Placeholder 4">
            <a:extLst>
              <a:ext uri="{FF2B5EF4-FFF2-40B4-BE49-F238E27FC236}">
                <a16:creationId xmlns:a16="http://schemas.microsoft.com/office/drawing/2014/main" id="{E6F9908E-85DF-7C3D-209C-6918BB8800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8D177-966B-FE74-063E-8F3F8E0FF1EC}"/>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123952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582B-3E94-CA9F-0EAA-FF2C301354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1463B6-4CFC-CD7C-99E5-FFDD842AC0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316AF1-C487-65A7-906D-E5F53A110267}"/>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5" name="Footer Placeholder 4">
            <a:extLst>
              <a:ext uri="{FF2B5EF4-FFF2-40B4-BE49-F238E27FC236}">
                <a16:creationId xmlns:a16="http://schemas.microsoft.com/office/drawing/2014/main" id="{12481716-A150-B9A9-891E-30AE27E2A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F541A-A94E-3007-3BBD-48AA07FEF825}"/>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1840804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000FB-AB18-1684-F6E2-F03346F10D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0E2BE6-3FAE-A8D1-8189-B0AEAD3F5B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0680C47-5390-14BA-A3F3-F1BBDC7A56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C03E82-8249-D93D-6B8B-D89FE1BCBD82}"/>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6" name="Footer Placeholder 5">
            <a:extLst>
              <a:ext uri="{FF2B5EF4-FFF2-40B4-BE49-F238E27FC236}">
                <a16:creationId xmlns:a16="http://schemas.microsoft.com/office/drawing/2014/main" id="{180EECBF-4D6F-7672-6F7A-2CD094E312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1ACBFE-232B-75E1-DA6F-B84527E05758}"/>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607686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85EE-709F-7885-4119-3ED4606109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7A1CC9-C7AD-EB6B-ABBC-E4D5F8800E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68BF15-9019-E17B-C5DF-DFE70ABC6D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078493-5BF3-C8B1-B7D4-C5A9AF7F89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B537B4-EA48-353D-25F6-EBF03E382C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5FF166-62C6-ED46-42BD-45AEDCD01C8E}"/>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8" name="Footer Placeholder 7">
            <a:extLst>
              <a:ext uri="{FF2B5EF4-FFF2-40B4-BE49-F238E27FC236}">
                <a16:creationId xmlns:a16="http://schemas.microsoft.com/office/drawing/2014/main" id="{A161E6A9-202B-18BA-66D4-CC065E1674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D93522-844D-FB91-2F65-E5434A7798F0}"/>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4072810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A7BA4-C317-3282-026A-43EC5F9686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52B195-0910-F08F-E3EA-042B6C7DAB50}"/>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4" name="Footer Placeholder 3">
            <a:extLst>
              <a:ext uri="{FF2B5EF4-FFF2-40B4-BE49-F238E27FC236}">
                <a16:creationId xmlns:a16="http://schemas.microsoft.com/office/drawing/2014/main" id="{3D605402-73E2-97E5-483F-FCD9AB6B4A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77B0BB2-4640-4FA0-0658-16948192E656}"/>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2651564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C79CC0-D3E1-F1F8-D4EA-3E8424C31F0D}"/>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3" name="Footer Placeholder 2">
            <a:extLst>
              <a:ext uri="{FF2B5EF4-FFF2-40B4-BE49-F238E27FC236}">
                <a16:creationId xmlns:a16="http://schemas.microsoft.com/office/drawing/2014/main" id="{4E311A36-5D1E-0CA5-F524-9BD2AA31B4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BC5CD13-A88E-7261-ED8B-51A69057C68C}"/>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4249054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008E-E45A-4413-8E5B-93B692DC51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9B7C9E-05DA-0650-59C5-E0B0814662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86EAF9-8EA2-0384-CEA1-7FE3ADCA4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1F756-D5CC-0037-FF6C-BC8107382766}"/>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6" name="Footer Placeholder 5">
            <a:extLst>
              <a:ext uri="{FF2B5EF4-FFF2-40B4-BE49-F238E27FC236}">
                <a16:creationId xmlns:a16="http://schemas.microsoft.com/office/drawing/2014/main" id="{556FB826-A1B7-8F62-D327-D4E5140E6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A853A-722D-BCDF-1E99-6D8BA463029D}"/>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3084079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8AF8A-3BCF-E438-247C-82C65995D2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9A711D-305F-CCBD-6C33-D3CE1CC303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104740-9204-73A1-6D0F-4EDF2FF12E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CB53D-7A0B-C1D0-303A-1A1043819362}"/>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6" name="Footer Placeholder 5">
            <a:extLst>
              <a:ext uri="{FF2B5EF4-FFF2-40B4-BE49-F238E27FC236}">
                <a16:creationId xmlns:a16="http://schemas.microsoft.com/office/drawing/2014/main" id="{A4ACCCE4-EF3B-2ECD-FD3A-EAB726404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71D70-F0AE-86A6-5D4E-00AB49571635}"/>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3994512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1F63B-560B-D05E-DCCC-A6B812E8E4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8CC429-1A81-B6EF-DB8E-0DFAB7549C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AB95EC-39C5-F41F-E688-65AAD718F6F2}"/>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5" name="Footer Placeholder 4">
            <a:extLst>
              <a:ext uri="{FF2B5EF4-FFF2-40B4-BE49-F238E27FC236}">
                <a16:creationId xmlns:a16="http://schemas.microsoft.com/office/drawing/2014/main" id="{98634779-03FE-0D76-6802-C6A7D7C8D7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79EB05-628D-936E-1DFA-69840E17CAD4}"/>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3378263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382B9D-F174-8C45-D64D-AE07AE1125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95B16E-C3B1-8329-630F-322D57ED19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A21B4-3F04-2899-713C-CF52D32D7FEF}"/>
              </a:ext>
            </a:extLst>
          </p:cNvPr>
          <p:cNvSpPr>
            <a:spLocks noGrp="1"/>
          </p:cNvSpPr>
          <p:nvPr>
            <p:ph type="dt" sz="half" idx="10"/>
          </p:nvPr>
        </p:nvSpPr>
        <p:spPr/>
        <p:txBody>
          <a:bodyPr/>
          <a:lstStyle/>
          <a:p>
            <a:fld id="{6DEEE8E5-05E8-41A7-BBF5-3CF3BD51802C}" type="datetimeFigureOut">
              <a:rPr lang="en-US" smtClean="0"/>
              <a:t>3/17/2026</a:t>
            </a:fld>
            <a:endParaRPr lang="en-US"/>
          </a:p>
        </p:txBody>
      </p:sp>
      <p:sp>
        <p:nvSpPr>
          <p:cNvPr id="5" name="Footer Placeholder 4">
            <a:extLst>
              <a:ext uri="{FF2B5EF4-FFF2-40B4-BE49-F238E27FC236}">
                <a16:creationId xmlns:a16="http://schemas.microsoft.com/office/drawing/2014/main" id="{E5A85E8F-8955-9BEC-08B1-7E2A25AE25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68276-7C6C-2028-082B-1F380C7F2DAD}"/>
              </a:ext>
            </a:extLst>
          </p:cNvPr>
          <p:cNvSpPr>
            <a:spLocks noGrp="1"/>
          </p:cNvSpPr>
          <p:nvPr>
            <p:ph type="sldNum" sz="quarter" idx="12"/>
          </p:nvPr>
        </p:nvSpPr>
        <p:spPr/>
        <p:txBody>
          <a:bodyPr/>
          <a:lstStyle/>
          <a:p>
            <a:fld id="{8D88AF33-153A-4799-95AB-A96E5DEEF421}" type="slidenum">
              <a:rPr lang="en-US" smtClean="0"/>
              <a:t>‹#›</a:t>
            </a:fld>
            <a:endParaRPr lang="en-US"/>
          </a:p>
        </p:txBody>
      </p:sp>
    </p:spTree>
    <p:extLst>
      <p:ext uri="{BB962C8B-B14F-4D97-AF65-F5344CB8AC3E}">
        <p14:creationId xmlns:p14="http://schemas.microsoft.com/office/powerpoint/2010/main" val="2624759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D4BA94-B2A7-357D-16CE-81E3871B0F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08032D-7247-DC5C-D856-151862E164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8015A5-7370-554A-5335-6824ED90A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EE8E5-05E8-41A7-BBF5-3CF3BD51802C}" type="datetimeFigureOut">
              <a:rPr lang="en-US" smtClean="0"/>
              <a:t>3/17/2026</a:t>
            </a:fld>
            <a:endParaRPr lang="en-US"/>
          </a:p>
        </p:txBody>
      </p:sp>
      <p:sp>
        <p:nvSpPr>
          <p:cNvPr id="5" name="Footer Placeholder 4">
            <a:extLst>
              <a:ext uri="{FF2B5EF4-FFF2-40B4-BE49-F238E27FC236}">
                <a16:creationId xmlns:a16="http://schemas.microsoft.com/office/drawing/2014/main" id="{390BF9E3-8740-F98D-E6FE-48B5829F6F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6D7E9A-5FAD-C79D-D98B-676C686FFB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88AF33-153A-4799-95AB-A96E5DEEF421}" type="slidenum">
              <a:rPr lang="en-US" smtClean="0"/>
              <a:t>‹#›</a:t>
            </a:fld>
            <a:endParaRPr lang="en-US"/>
          </a:p>
        </p:txBody>
      </p:sp>
    </p:spTree>
    <p:extLst>
      <p:ext uri="{BB962C8B-B14F-4D97-AF65-F5344CB8AC3E}">
        <p14:creationId xmlns:p14="http://schemas.microsoft.com/office/powerpoint/2010/main" val="3507867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BC82C-3C9F-7FF3-DC30-EE3CD7119F19}"/>
              </a:ext>
            </a:extLst>
          </p:cNvPr>
          <p:cNvSpPr>
            <a:spLocks noGrp="1"/>
          </p:cNvSpPr>
          <p:nvPr>
            <p:ph type="ctrTitle"/>
          </p:nvPr>
        </p:nvSpPr>
        <p:spPr>
          <a:xfrm>
            <a:off x="0" y="2242000"/>
            <a:ext cx="12072257" cy="1643743"/>
          </a:xfrm>
        </p:spPr>
        <p:txBody>
          <a:bodyPr>
            <a:normAutofit/>
          </a:bodyPr>
          <a:lstStyle/>
          <a:p>
            <a:r>
              <a:rPr lang="en-US" sz="3600" b="1" dirty="0" err="1">
                <a:latin typeface="Times New Roman" panose="02020603050405020304" pitchFamily="18" charset="0"/>
                <a:cs typeface="Times New Roman" panose="02020603050405020304" pitchFamily="18" charset="0"/>
              </a:rPr>
              <a:t>Báo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cáo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giữa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kì</a:t>
            </a: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DAST: </a:t>
            </a:r>
            <a:r>
              <a:rPr lang="en-US" sz="3600" b="1" dirty="0" err="1">
                <a:latin typeface="Times New Roman" panose="02020603050405020304" pitchFamily="18" charset="0"/>
                <a:cs typeface="Times New Roman" panose="02020603050405020304" pitchFamily="18" charset="0"/>
              </a:rPr>
              <a:t>quét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động</a:t>
            </a:r>
            <a:r>
              <a:rPr lang="en-US" sz="3600" b="1" dirty="0">
                <a:latin typeface="Times New Roman" panose="02020603050405020304" pitchFamily="18" charset="0"/>
                <a:cs typeface="Times New Roman" panose="02020603050405020304" pitchFamily="18" charset="0"/>
              </a:rPr>
              <a:t> web app staging </a:t>
            </a:r>
            <a:r>
              <a:rPr lang="en-US" sz="3600" b="1" dirty="0" err="1">
                <a:latin typeface="Times New Roman" panose="02020603050405020304" pitchFamily="18" charset="0"/>
                <a:cs typeface="Times New Roman" panose="02020603050405020304" pitchFamily="18" charset="0"/>
              </a:rPr>
              <a:t>bằng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công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cụ</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chỉ</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báo</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cáo</a:t>
            </a:r>
            <a:r>
              <a:rPr lang="en-US" sz="3600" b="1" dirty="0">
                <a:latin typeface="Times New Roman" panose="02020603050405020304" pitchFamily="18" charset="0"/>
                <a:cs typeface="Times New Roman" panose="02020603050405020304" pitchFamily="18" charset="0"/>
              </a:rPr>
              <a:t> &amp; </a:t>
            </a:r>
            <a:r>
              <a:rPr lang="en-US" sz="3600" b="1" dirty="0" err="1">
                <a:latin typeface="Times New Roman" panose="02020603050405020304" pitchFamily="18" charset="0"/>
                <a:cs typeface="Times New Roman" panose="02020603050405020304" pitchFamily="18" charset="0"/>
              </a:rPr>
              <a:t>khuyến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nghị</a:t>
            </a:r>
            <a:r>
              <a:rPr lang="en-US" sz="3600" b="1"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20558C1A-95E9-7254-988D-3CD7FF6797B0}"/>
              </a:ext>
            </a:extLst>
          </p:cNvPr>
          <p:cNvSpPr>
            <a:spLocks noGrp="1"/>
          </p:cNvSpPr>
          <p:nvPr>
            <p:ph type="subTitle" idx="1"/>
          </p:nvPr>
        </p:nvSpPr>
        <p:spPr>
          <a:xfrm>
            <a:off x="0" y="587371"/>
            <a:ext cx="12192000" cy="1643743"/>
          </a:xfrm>
        </p:spPr>
        <p:txBody>
          <a:bodyPr/>
          <a:lstStyle/>
          <a:p>
            <a:r>
              <a:rPr lang="en-US" dirty="0">
                <a:latin typeface="Times New Roman" panose="02020603050405020304" pitchFamily="18" charset="0"/>
                <a:cs typeface="Times New Roman" panose="02020603050405020304" pitchFamily="18" charset="0"/>
              </a:rPr>
              <a:t>TRƯỜNG ĐẠI HỌC TÀI NGUYÊN VÀ MÔI TRƯỜNG </a:t>
            </a:r>
          </a:p>
          <a:p>
            <a:r>
              <a:rPr lang="en-US" dirty="0">
                <a:latin typeface="Times New Roman" panose="02020603050405020304" pitchFamily="18" charset="0"/>
                <a:cs typeface="Times New Roman" panose="02020603050405020304" pitchFamily="18" charset="0"/>
              </a:rPr>
              <a:t>THÀNH PHỐ HỒ CHÍ MINH</a:t>
            </a:r>
          </a:p>
          <a:p>
            <a:r>
              <a:rPr lang="en-US" sz="4000" b="1" dirty="0">
                <a:latin typeface="Times New Roman" panose="02020603050405020304" pitchFamily="18" charset="0"/>
                <a:cs typeface="Times New Roman" panose="02020603050405020304" pitchFamily="18" charset="0"/>
              </a:rPr>
              <a:t>KHOA CÔNG NGHỆ THÔNG TIN</a:t>
            </a:r>
          </a:p>
        </p:txBody>
      </p:sp>
      <p:sp>
        <p:nvSpPr>
          <p:cNvPr id="4" name="TextBox 3">
            <a:extLst>
              <a:ext uri="{FF2B5EF4-FFF2-40B4-BE49-F238E27FC236}">
                <a16:creationId xmlns:a16="http://schemas.microsoft.com/office/drawing/2014/main" id="{075F801B-669C-4E3A-2539-6C2D1E2AD3C5}"/>
              </a:ext>
            </a:extLst>
          </p:cNvPr>
          <p:cNvSpPr txBox="1"/>
          <p:nvPr/>
        </p:nvSpPr>
        <p:spPr>
          <a:xfrm>
            <a:off x="0" y="4023860"/>
            <a:ext cx="12192000"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				Sinh </a:t>
            </a:r>
            <a:r>
              <a:rPr lang="en-US" sz="2800" dirty="0" err="1">
                <a:latin typeface="Times New Roman" panose="02020603050405020304" pitchFamily="18" charset="0"/>
                <a:cs typeface="Times New Roman" panose="02020603050405020304" pitchFamily="18" charset="0"/>
              </a:rPr>
              <a:t>viên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thực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hiện</a:t>
            </a:r>
            <a:r>
              <a:rPr lang="en-US" sz="2800" dirty="0">
                <a:latin typeface="Times New Roman" panose="02020603050405020304" pitchFamily="18" charset="0"/>
                <a:cs typeface="Times New Roman" panose="02020603050405020304" pitchFamily="18" charset="0"/>
              </a:rPr>
              <a:t>: 1150080059</a:t>
            </a:r>
          </a:p>
          <a:p>
            <a:r>
              <a:rPr lang="en-US" sz="2800" dirty="0">
                <a:latin typeface="Times New Roman" panose="02020603050405020304" pitchFamily="18" charset="0"/>
                <a:cs typeface="Times New Roman" panose="02020603050405020304" pitchFamily="18" charset="0"/>
              </a:rPr>
              <a:t>				Họ </a:t>
            </a:r>
            <a:r>
              <a:rPr lang="en-US" sz="2800" dirty="0" err="1">
                <a:latin typeface="Times New Roman" panose="02020603050405020304" pitchFamily="18" charset="0"/>
                <a:cs typeface="Times New Roman" panose="02020603050405020304" pitchFamily="18" charset="0"/>
              </a:rPr>
              <a:t>tên</a:t>
            </a:r>
            <a:r>
              <a:rPr lang="en-US" sz="2800" dirty="0">
                <a:latin typeface="Times New Roman" panose="02020603050405020304" pitchFamily="18" charset="0"/>
                <a:cs typeface="Times New Roman" panose="02020603050405020304" pitchFamily="18" charset="0"/>
              </a:rPr>
              <a:t>: Trần Nguyễn Minh Khôi</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Lớp</a:t>
            </a:r>
            <a:r>
              <a:rPr lang="en-US" sz="2800" dirty="0">
                <a:latin typeface="Times New Roman" panose="02020603050405020304" pitchFamily="18" charset="0"/>
                <a:cs typeface="Times New Roman" panose="02020603050405020304" pitchFamily="18" charset="0"/>
              </a:rPr>
              <a:t>: 11_ĐH_CNPM1</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Khóa</a:t>
            </a:r>
            <a:r>
              <a:rPr lang="en-US" sz="2800" dirty="0">
                <a:latin typeface="Times New Roman" panose="02020603050405020304" pitchFamily="18" charset="0"/>
                <a:cs typeface="Times New Roman" panose="02020603050405020304" pitchFamily="18" charset="0"/>
              </a:rPr>
              <a:t>: 11</a:t>
            </a:r>
          </a:p>
          <a:p>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hướng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dẫn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Phạm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Trọng</a:t>
            </a:r>
            <a:r>
              <a:rPr lang="en-US" sz="2800" dirty="0">
                <a:latin typeface="Times New Roman" panose="02020603050405020304" pitchFamily="18" charset="0"/>
                <a:cs typeface="Times New Roman" panose="02020603050405020304" pitchFamily="18" charset="0"/>
              </a:rPr>
              <a:t> Huynh</a:t>
            </a:r>
          </a:p>
        </p:txBody>
      </p:sp>
    </p:spTree>
    <p:extLst>
      <p:ext uri="{BB962C8B-B14F-4D97-AF65-F5344CB8AC3E}">
        <p14:creationId xmlns:p14="http://schemas.microsoft.com/office/powerpoint/2010/main" val="2026451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normAutofit/>
          </a:bodyPr>
          <a:lstStyle/>
          <a:p>
            <a:r>
              <a:rPr lang="en-US" b="1" dirty="0" err="1">
                <a:latin typeface="Times New Roman" panose="02020603050405020304" pitchFamily="18" charset="0"/>
                <a:cs typeface="Times New Roman" panose="02020603050405020304" pitchFamily="18" charset="0"/>
              </a:rPr>
              <a:t>Phần</a:t>
            </a:r>
            <a:r>
              <a:rPr lang="en-US" b="1" dirty="0">
                <a:latin typeface="Times New Roman" panose="02020603050405020304" pitchFamily="18" charset="0"/>
                <a:cs typeface="Times New Roman" panose="02020603050405020304" pitchFamily="18" charset="0"/>
              </a:rPr>
              <a:t> 1: </a:t>
            </a:r>
            <a:r>
              <a:rPr lang="en-US" b="1" dirty="0" err="1">
                <a:latin typeface="Times New Roman" panose="02020603050405020304" pitchFamily="18" charset="0"/>
                <a:cs typeface="Times New Roman" panose="02020603050405020304" pitchFamily="18" charset="0"/>
              </a:rPr>
              <a:t>Tổng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quan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án</a:t>
            </a:r>
            <a:endParaRPr lang="en-US" b="1" dirty="0">
              <a:latin typeface="Times New Roman" panose="02020603050405020304" pitchFamily="18"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1.1. </a:t>
            </a:r>
            <a:r>
              <a:rPr lang="en-US" b="1" dirty="0" err="1">
                <a:latin typeface="Times New Roman" panose="02020603050405020304" pitchFamily="18" charset="0"/>
                <a:cs typeface="Times New Roman" panose="02020603050405020304" pitchFamily="18" charset="0"/>
              </a:rPr>
              <a:t>Giới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thiệu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ứng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Website </a:t>
            </a:r>
            <a:r>
              <a:rPr lang="en-US" dirty="0" err="1">
                <a:latin typeface="Times New Roman" panose="02020603050405020304" pitchFamily="18" charset="0"/>
                <a:cs typeface="Times New Roman" panose="02020603050405020304" pitchFamily="18" charset="0"/>
              </a:rPr>
              <a:t>thương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(User),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r>
              <a:rPr lang="en-US" dirty="0">
                <a:latin typeface="Times New Roman" panose="02020603050405020304" pitchFamily="18" charset="0"/>
                <a:cs typeface="Times New Roman" panose="02020603050405020304" pitchFamily="18" charset="0"/>
              </a:rPr>
              <a:t> (Seller),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(Admin).</a:t>
            </a:r>
          </a:p>
          <a:p>
            <a:pPr>
              <a:buFontTx/>
              <a:buChar char="-"/>
            </a:pPr>
            <a:r>
              <a:rPr lang="en-US" dirty="0">
                <a:latin typeface="Times New Roman" panose="02020603050405020304" pitchFamily="18" charset="0"/>
                <a:cs typeface="Times New Roman" panose="02020603050405020304" pitchFamily="18" charset="0"/>
              </a:rPr>
              <a:t>Website </a:t>
            </a:r>
            <a:r>
              <a:rPr lang="en-US" dirty="0" err="1">
                <a:latin typeface="Times New Roman" panose="02020603050405020304" pitchFamily="18" charset="0"/>
                <a:cs typeface="Times New Roman" panose="02020603050405020304" pitchFamily="18" charset="0"/>
              </a:rPr>
              <a:t>bán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thoại</a:t>
            </a:r>
            <a:r>
              <a:rPr lang="en-US" dirty="0">
                <a:latin typeface="Times New Roman" panose="02020603050405020304" pitchFamily="18" charset="0"/>
                <a:cs typeface="Times New Roman" panose="02020603050405020304" pitchFamily="18" charset="0"/>
              </a:rPr>
              <a:t>, laptop,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toán</a:t>
            </a:r>
            <a:r>
              <a:rPr lang="en-US" dirty="0">
                <a:latin typeface="Times New Roman" panose="02020603050405020304" pitchFamily="18" charset="0"/>
                <a:cs typeface="Times New Roman" panose="02020603050405020304" pitchFamily="18" charset="0"/>
              </a:rPr>
              <a:t>,…..</a:t>
            </a:r>
          </a:p>
          <a:p>
            <a:pPr>
              <a:buFontTx/>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0123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1: </a:t>
            </a:r>
            <a:r>
              <a:rPr lang="en-US" b="1" dirty="0" err="1">
                <a:latin typeface="Times New Roman" panose="02020603050405020304" pitchFamily="18" charset="0"/>
                <a:ea typeface="Tahoma" panose="020B0604030504040204" pitchFamily="34" charset="0"/>
                <a:cs typeface="Times New Roman" panose="02020603050405020304" pitchFamily="18" charset="0"/>
              </a:rPr>
              <a:t>Tổng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quan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dự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án</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1.2. </a:t>
            </a:r>
            <a:r>
              <a:rPr lang="en-US" b="1" dirty="0" err="1">
                <a:latin typeface="Times New Roman" panose="02020603050405020304" pitchFamily="18" charset="0"/>
                <a:cs typeface="Times New Roman" panose="02020603050405020304" pitchFamily="18" charset="0"/>
              </a:rPr>
              <a:t>Mục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việc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thực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án</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hỏng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tool.</a:t>
            </a:r>
          </a:p>
          <a:p>
            <a:pPr>
              <a:buFontTx/>
              <a:buChar char="-"/>
            </a:pP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bug.</a:t>
            </a:r>
          </a:p>
          <a:p>
            <a:pPr>
              <a:buFontTx/>
              <a:buChar char="-"/>
            </a:pP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đen</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Hoàn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lượng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40317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1: </a:t>
            </a:r>
            <a:r>
              <a:rPr lang="en-US" b="1" dirty="0" err="1">
                <a:latin typeface="Times New Roman" panose="02020603050405020304" pitchFamily="18" charset="0"/>
                <a:ea typeface="Tahoma" panose="020B0604030504040204" pitchFamily="34" charset="0"/>
                <a:cs typeface="Times New Roman" panose="02020603050405020304" pitchFamily="18" charset="0"/>
              </a:rPr>
              <a:t>Tổng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quan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dự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án</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1.3. </a:t>
            </a:r>
            <a:r>
              <a:rPr lang="en-US" b="1" dirty="0" err="1">
                <a:latin typeface="Times New Roman" panose="02020603050405020304" pitchFamily="18" charset="0"/>
                <a:cs typeface="Times New Roman" panose="02020603050405020304" pitchFamily="18" charset="0"/>
              </a:rPr>
              <a:t>Công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nghệ</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nền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ứng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Typescript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dựng</a:t>
            </a:r>
            <a:r>
              <a:rPr lang="en-US" dirty="0">
                <a:latin typeface="Times New Roman" panose="02020603050405020304" pitchFamily="18" charset="0"/>
                <a:cs typeface="Times New Roman" panose="02020603050405020304" pitchFamily="18" charset="0"/>
              </a:rPr>
              <a:t> website.</a:t>
            </a:r>
          </a:p>
          <a:p>
            <a:pPr>
              <a:buFontTx/>
              <a:buChar char="-"/>
            </a:pP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visual studio code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nguồn</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draw.io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ZAP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hỏng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MongoDB.</a:t>
            </a:r>
          </a:p>
          <a:p>
            <a:pPr>
              <a:buFontTx/>
              <a:buChar char="-"/>
            </a:pP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Cloudinary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lưu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a:t>
            </a:r>
          </a:p>
          <a:p>
            <a:pPr>
              <a:buFontTx/>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8775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1: </a:t>
            </a:r>
            <a:r>
              <a:rPr lang="en-US" b="1" dirty="0" err="1">
                <a:latin typeface="Times New Roman" panose="02020603050405020304" pitchFamily="18" charset="0"/>
                <a:ea typeface="Tahoma" panose="020B0604030504040204" pitchFamily="34" charset="0"/>
                <a:cs typeface="Times New Roman" panose="02020603050405020304" pitchFamily="18" charset="0"/>
              </a:rPr>
              <a:t>Tổng</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quan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dự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án</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1.4. </a:t>
            </a:r>
            <a:r>
              <a:rPr lang="en-US" b="1" dirty="0" err="1">
                <a:latin typeface="Times New Roman" panose="02020603050405020304" pitchFamily="18" charset="0"/>
                <a:cs typeface="Times New Roman" panose="02020603050405020304" pitchFamily="18" charset="0"/>
              </a:rPr>
              <a:t>Thời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gian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kiến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15.1.2026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1.2.2026 </a:t>
            </a:r>
            <a:r>
              <a:rPr lang="en-US" dirty="0" err="1">
                <a:latin typeface="Times New Roman" panose="02020603050405020304" pitchFamily="18" charset="0"/>
                <a:cs typeface="Times New Roman" panose="02020603050405020304" pitchFamily="18" charset="0"/>
              </a:rPr>
              <a:t>hoàn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kì</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ngày</a:t>
            </a:r>
            <a:r>
              <a:rPr lang="en-US" dirty="0">
                <a:latin typeface="Times New Roman" panose="02020603050405020304" pitchFamily="18" charset="0"/>
                <a:cs typeface="Times New Roman" panose="02020603050405020304" pitchFamily="18" charset="0"/>
              </a:rPr>
              <a:t> 1.3.2026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17.3.2026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a:t>
            </a:r>
          </a:p>
          <a:p>
            <a:pPr>
              <a:buFontTx/>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377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2: </a:t>
            </a:r>
            <a:r>
              <a:rPr lang="en-US" b="1" dirty="0" err="1">
                <a:latin typeface="Times New Roman" panose="02020603050405020304" pitchFamily="18" charset="0"/>
                <a:ea typeface="Tahoma" panose="020B0604030504040204" pitchFamily="34" charset="0"/>
                <a:cs typeface="Times New Roman" panose="02020603050405020304" pitchFamily="18" charset="0"/>
              </a:rPr>
              <a:t>Phân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tích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yêu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càu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phạm</a:t>
            </a:r>
            <a:r>
              <a:rPr lang="en-US" b="1" dirty="0">
                <a:latin typeface="Times New Roman" panose="02020603050405020304" pitchFamily="18" charset="0"/>
                <a:ea typeface="Tahoma" panose="020B0604030504040204" pitchFamily="34" charset="0"/>
                <a:cs typeface="Times New Roman" panose="02020603050405020304" pitchFamily="18" charset="0"/>
              </a:rPr>
              <a:t> vi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2.1. Danh </a:t>
            </a:r>
            <a:r>
              <a:rPr lang="en-US" b="1" dirty="0" err="1">
                <a:latin typeface="Times New Roman" panose="02020603050405020304" pitchFamily="18" charset="0"/>
                <a:cs typeface="Times New Roman" panose="02020603050405020304" pitchFamily="18" charset="0"/>
              </a:rPr>
              <a:t>sách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ứng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 (Feature List):</a:t>
            </a:r>
          </a:p>
          <a:p>
            <a:pPr>
              <a:buFontTx/>
              <a:buChar char="-"/>
            </a:pP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Xem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Giỏ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tôi</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khẩu</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Thanh </a:t>
            </a:r>
            <a:r>
              <a:rPr lang="en-US" dirty="0" err="1">
                <a:latin typeface="Times New Roman" panose="02020603050405020304" pitchFamily="18" charset="0"/>
                <a:cs typeface="Times New Roman" panose="02020603050405020304" pitchFamily="18" charset="0"/>
              </a:rPr>
              <a:t>toán</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Liên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mới</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Đơn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Biểu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tổng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076801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2: </a:t>
            </a:r>
            <a:r>
              <a:rPr lang="en-US" b="1" dirty="0" err="1">
                <a:latin typeface="Times New Roman" panose="02020603050405020304" pitchFamily="18" charset="0"/>
                <a:ea typeface="Tahoma" panose="020B0604030504040204" pitchFamily="34" charset="0"/>
                <a:cs typeface="Times New Roman" panose="02020603050405020304" pitchFamily="18" charset="0"/>
              </a:rPr>
              <a:t>Phân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tích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yêu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càu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phạm</a:t>
            </a:r>
            <a:r>
              <a:rPr lang="en-US" b="1" dirty="0">
                <a:latin typeface="Times New Roman" panose="02020603050405020304" pitchFamily="18" charset="0"/>
                <a:ea typeface="Tahoma" panose="020B0604030504040204" pitchFamily="34" charset="0"/>
                <a:cs typeface="Times New Roman" panose="02020603050405020304" pitchFamily="18" charset="0"/>
              </a:rPr>
              <a:t> vi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2.2. </a:t>
            </a:r>
            <a:r>
              <a:rPr lang="en-US" b="1" dirty="0" err="1">
                <a:latin typeface="Times New Roman" panose="02020603050405020304" pitchFamily="18" charset="0"/>
                <a:cs typeface="Times New Roman" panose="02020603050405020304" pitchFamily="18" charset="0"/>
              </a:rPr>
              <a:t>Xác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định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phạm</a:t>
            </a:r>
            <a:r>
              <a:rPr lang="en-US" b="1" dirty="0">
                <a:latin typeface="Times New Roman" panose="02020603050405020304" pitchFamily="18" charset="0"/>
                <a:cs typeface="Times New Roman" panose="02020603050405020304" pitchFamily="18" charset="0"/>
              </a:rPr>
              <a:t> vi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(In scope/ Out of scope):</a:t>
            </a:r>
          </a:p>
          <a:p>
            <a:pPr>
              <a:buFontTx/>
              <a:buChar char="-"/>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chính</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duyệt</a:t>
            </a:r>
            <a:r>
              <a:rPr lang="en-US" dirty="0">
                <a:latin typeface="Times New Roman" panose="02020603050405020304" pitchFamily="18" charset="0"/>
                <a:cs typeface="Times New Roman" panose="02020603050405020304" pitchFamily="18" charset="0"/>
              </a:rPr>
              <a:t> chrome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Windows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Laptop.</a:t>
            </a:r>
          </a:p>
          <a:p>
            <a:pPr>
              <a:buFontTx/>
              <a:buChar char="-"/>
            </a:pP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276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2: </a:t>
            </a:r>
            <a:r>
              <a:rPr lang="en-US" b="1" dirty="0" err="1">
                <a:latin typeface="Times New Roman" panose="02020603050405020304" pitchFamily="18" charset="0"/>
                <a:ea typeface="Tahoma" panose="020B0604030504040204" pitchFamily="34" charset="0"/>
                <a:cs typeface="Times New Roman" panose="02020603050405020304" pitchFamily="18" charset="0"/>
              </a:rPr>
              <a:t>Phân</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tích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yêu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càu</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và</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phạm</a:t>
            </a:r>
            <a:r>
              <a:rPr lang="en-US" b="1" dirty="0">
                <a:latin typeface="Times New Roman" panose="02020603050405020304" pitchFamily="18" charset="0"/>
                <a:ea typeface="Tahoma" panose="020B0604030504040204" pitchFamily="34" charset="0"/>
                <a:cs typeface="Times New Roman" panose="02020603050405020304" pitchFamily="18" charset="0"/>
              </a:rPr>
              <a:t> vi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2.3. </a:t>
            </a:r>
            <a:r>
              <a:rPr lang="en-US" b="1" dirty="0" err="1">
                <a:latin typeface="Times New Roman" panose="02020603050405020304" pitchFamily="18" charset="0"/>
                <a:cs typeface="Times New Roman" panose="02020603050405020304" pitchFamily="18" charset="0"/>
              </a:rPr>
              <a:t>Đối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tượng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toán</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Giao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button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hàng</a:t>
            </a:r>
            <a:r>
              <a:rPr lang="en-US" dirty="0">
                <a:latin typeface="Times New Roman" panose="02020603050405020304" pitchFamily="18" charset="0"/>
                <a:cs typeface="Times New Roman" panose="02020603050405020304" pitchFamily="18" charset="0"/>
              </a:rPr>
              <a:t>, form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phẩm</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muốn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ban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endParaRPr lang="en-US" dirty="0">
              <a:latin typeface="Times New Roman" panose="02020603050405020304" pitchFamily="18" charset="0"/>
              <a:cs typeface="Times New Roman" panose="02020603050405020304" pitchFamily="18" charset="0"/>
            </a:endParaRPr>
          </a:p>
          <a:p>
            <a:pPr>
              <a:buFontTx/>
              <a:buChar char="-"/>
            </a:pP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a:t>
            </a:r>
          </a:p>
        </p:txBody>
      </p:sp>
    </p:spTree>
    <p:extLst>
      <p:ext uri="{BB962C8B-B14F-4D97-AF65-F5344CB8AC3E}">
        <p14:creationId xmlns:p14="http://schemas.microsoft.com/office/powerpoint/2010/main" val="3908352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3.1. </a:t>
            </a:r>
            <a:r>
              <a:rPr lang="en-US" b="1" dirty="0" err="1">
                <a:latin typeface="Times New Roman" panose="02020603050405020304" pitchFamily="18" charset="0"/>
                <a:cs typeface="Times New Roman" panose="02020603050405020304" pitchFamily="18" charset="0"/>
              </a:rPr>
              <a:t>Mục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ban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endParaRPr lang="en-US" dirty="0">
              <a:latin typeface="Times New Roman" panose="02020603050405020304" pitchFamily="18" charset="0"/>
              <a:cs typeface="Times New Roman" panose="02020603050405020304" pitchFamily="18" charset="0"/>
            </a:endParaRPr>
          </a:p>
          <a:p>
            <a:pPr>
              <a:buFontTx/>
              <a:buChar char="-"/>
            </a:pP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phép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Đảm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trước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Khắc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kịp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tức</a:t>
            </a:r>
            <a:r>
              <a:rPr lang="en-US" dirty="0">
                <a:latin typeface="Times New Roman" panose="02020603050405020304" pitchFamily="18" charset="0"/>
                <a:cs typeface="Times New Roman" panose="02020603050405020304" pitchFamily="18" charset="0"/>
              </a:rPr>
              <a:t>.</a:t>
            </a:r>
          </a:p>
          <a:p>
            <a:pPr>
              <a:buFontTx/>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6508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3.2. </a:t>
            </a:r>
            <a:r>
              <a:rPr lang="en-US" b="1" dirty="0" err="1">
                <a:latin typeface="Times New Roman" panose="02020603050405020304" pitchFamily="18" charset="0"/>
                <a:cs typeface="Times New Roman" panose="02020603050405020304" pitchFamily="18" charset="0"/>
              </a:rPr>
              <a:t>Chiến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lược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(Test Strategy):</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Sau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phạm</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chọn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rồi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Viết</a:t>
            </a:r>
            <a:r>
              <a:rPr lang="en-US" dirty="0">
                <a:latin typeface="Times New Roman" panose="02020603050405020304" pitchFamily="18" charset="0"/>
                <a:cs typeface="Times New Roman" panose="02020603050405020304" pitchFamily="18" charset="0"/>
              </a:rPr>
              <a:t> test case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Sau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kiếm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67079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3.3. </a:t>
            </a:r>
            <a:r>
              <a:rPr lang="en-US" b="1" dirty="0" err="1">
                <a:latin typeface="Times New Roman" panose="02020603050405020304" pitchFamily="18" charset="0"/>
                <a:cs typeface="Times New Roman" panose="02020603050405020304" pitchFamily="18" charset="0"/>
              </a:rPr>
              <a:t>Môi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trường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a:buFontTx/>
              <a:buChar char="-"/>
            </a:pPr>
            <a:r>
              <a:rPr lang="vi-VN" dirty="0">
                <a:latin typeface="Times New Roman" panose="02020603050405020304" pitchFamily="18" charset="0"/>
                <a:cs typeface="Times New Roman" panose="02020603050405020304" pitchFamily="18" charset="0"/>
              </a:rPr>
              <a:t>Ngôn ngữ: </a:t>
            </a:r>
            <a:r>
              <a:rPr lang="vi-VN" dirty="0" err="1">
                <a:latin typeface="Times New Roman" panose="02020603050405020304" pitchFamily="18" charset="0"/>
                <a:cs typeface="Times New Roman" panose="02020603050405020304" pitchFamily="18" charset="0"/>
              </a:rPr>
              <a:t>TypeScript</a:t>
            </a:r>
            <a:r>
              <a:rPr lang="en-US" dirty="0">
                <a:latin typeface="Times New Roman" panose="02020603050405020304" pitchFamily="18" charset="0"/>
                <a:cs typeface="Times New Roman" panose="02020603050405020304" pitchFamily="18" charset="0"/>
              </a:rPr>
              <a:t>.</a:t>
            </a:r>
          </a:p>
          <a:p>
            <a:pPr>
              <a:buFontTx/>
              <a:buChar char="-"/>
            </a:pPr>
            <a:r>
              <a:rPr lang="vi-VN" dirty="0">
                <a:latin typeface="Times New Roman" panose="02020603050405020304" pitchFamily="18" charset="0"/>
                <a:cs typeface="Times New Roman" panose="02020603050405020304" pitchFamily="18" charset="0"/>
              </a:rPr>
              <a:t>IDE: </a:t>
            </a:r>
            <a:r>
              <a:rPr lang="vi-VN" dirty="0" err="1">
                <a:latin typeface="Times New Roman" panose="02020603050405020304" pitchFamily="18" charset="0"/>
                <a:cs typeface="Times New Roman" panose="02020603050405020304" pitchFamily="18" charset="0"/>
              </a:rPr>
              <a:t>Visual</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Studio</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Code</a:t>
            </a:r>
            <a:r>
              <a:rPr lang="en-US"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buFontTx/>
              <a:buChar char="-"/>
            </a:pPr>
            <a:r>
              <a:rPr lang="vi-VN" dirty="0" err="1">
                <a:latin typeface="Times New Roman" panose="02020603050405020304" pitchFamily="18" charset="0"/>
                <a:cs typeface="Times New Roman" panose="02020603050405020304" pitchFamily="18" charset="0"/>
              </a:rPr>
              <a:t>Database</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MongoDB</a:t>
            </a:r>
            <a:r>
              <a:rPr lang="en-US" dirty="0">
                <a:latin typeface="Times New Roman" panose="02020603050405020304" pitchFamily="18" charset="0"/>
                <a:cs typeface="Times New Roman" panose="02020603050405020304" pitchFamily="18" charset="0"/>
              </a:rPr>
              <a:t>.</a:t>
            </a:r>
          </a:p>
          <a:p>
            <a:pPr>
              <a:buFontTx/>
              <a:buChar char="-"/>
            </a:pPr>
            <a:r>
              <a:rPr lang="vi-VN" dirty="0">
                <a:latin typeface="Times New Roman" panose="02020603050405020304" pitchFamily="18" charset="0"/>
                <a:cs typeface="Times New Roman" panose="02020603050405020304" pitchFamily="18" charset="0"/>
              </a:rPr>
              <a:t>Lưu trữ hình ảnh: </a:t>
            </a:r>
            <a:r>
              <a:rPr lang="vi-VN" dirty="0" err="1">
                <a:latin typeface="Times New Roman" panose="02020603050405020304" pitchFamily="18" charset="0"/>
                <a:cs typeface="Times New Roman" panose="02020603050405020304" pitchFamily="18" charset="0"/>
              </a:rPr>
              <a:t>Cloudinary</a:t>
            </a:r>
            <a:r>
              <a:rPr lang="vi-V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p>
          <a:p>
            <a:pPr>
              <a:buFontTx/>
              <a:buChar char="-"/>
            </a:pPr>
            <a:r>
              <a:rPr lang="vi-VN" dirty="0">
                <a:latin typeface="Times New Roman" panose="02020603050405020304" pitchFamily="18" charset="0"/>
                <a:cs typeface="Times New Roman" panose="02020603050405020304" pitchFamily="18" charset="0"/>
              </a:rPr>
              <a:t>Công cụ bảo mật: OWASP ZAP</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5649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3.4.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bắt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đầu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website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Cài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OWASP ZAP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Test case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chuẩn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63212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3.5. </a:t>
            </a:r>
            <a:r>
              <a:rPr lang="en-US" b="1" dirty="0" err="1">
                <a:latin typeface="Times New Roman" panose="02020603050405020304" pitchFamily="18" charset="0"/>
                <a:cs typeface="Times New Roman" panose="02020603050405020304" pitchFamily="18" charset="0"/>
              </a:rPr>
              <a:t>Tiêu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thúc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26730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0" y="1099457"/>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3.6. </a:t>
            </a:r>
            <a:r>
              <a:rPr lang="en-US" b="1" dirty="0" err="1">
                <a:latin typeface="Times New Roman" panose="02020603050405020304" pitchFamily="18" charset="0"/>
                <a:cs typeface="Times New Roman" panose="02020603050405020304" pitchFamily="18" charset="0"/>
              </a:rPr>
              <a:t>Rủi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pháp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lý</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gửi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Rủi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a:t>
            </a:r>
          </a:p>
          <a:p>
            <a:pPr>
              <a:buFontTx/>
              <a:buChar char="-"/>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nhật</a:t>
            </a:r>
            <a:r>
              <a:rPr lang="en-US" dirty="0">
                <a:latin typeface="Times New Roman" panose="02020603050405020304" pitchFamily="18" charset="0"/>
                <a:cs typeface="Times New Roman" panose="02020603050405020304" pitchFamily="18" charset="0"/>
              </a:rPr>
              <a:t> test case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thử</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03441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3: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hoạch</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3.7. </a:t>
            </a:r>
            <a:r>
              <a:rPr lang="en-US" b="1" dirty="0" err="1">
                <a:latin typeface="Times New Roman" panose="02020603050405020304" pitchFamily="18" charset="0"/>
                <a:cs typeface="Times New Roman" panose="02020603050405020304" pitchFamily="18" charset="0"/>
              </a:rPr>
              <a:t>Lịch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trình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thực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hiện</a:t>
            </a:r>
            <a:r>
              <a:rPr 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37328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619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0" y="674914"/>
            <a:ext cx="12191998" cy="6183085"/>
          </a:xfrm>
        </p:spPr>
        <p:txBody>
          <a:bodyPr/>
          <a:lstStyle/>
          <a:p>
            <a:pPr marL="0" indent="0">
              <a:buNone/>
            </a:pPr>
            <a:r>
              <a:rPr lang="en-US" b="1" dirty="0">
                <a:latin typeface="Times New Roman" panose="02020603050405020304" pitchFamily="18" charset="0"/>
                <a:cs typeface="Times New Roman" panose="02020603050405020304" pitchFamily="18" charset="0"/>
              </a:rPr>
              <a:t>4.1. </a:t>
            </a:r>
            <a:r>
              <a:rPr lang="en-US" b="1" dirty="0" err="1">
                <a:latin typeface="Times New Roman" panose="02020603050405020304" pitchFamily="18" charset="0"/>
                <a:cs typeface="Times New Roman" panose="02020603050405020304" pitchFamily="18" charset="0"/>
              </a:rPr>
              <a:t>Kỹ</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hộp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đen</a:t>
            </a: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4.1.1. </a:t>
            </a:r>
            <a:r>
              <a:rPr lang="en-US" b="1" dirty="0" err="1">
                <a:latin typeface="Times New Roman" panose="02020603050405020304" pitchFamily="18" charset="0"/>
                <a:cs typeface="Times New Roman" panose="02020603050405020304" pitchFamily="18" charset="0"/>
              </a:rPr>
              <a:t>Kế</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hoạch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7" name="Hình ảnh 6">
            <a:extLst>
              <a:ext uri="{FF2B5EF4-FFF2-40B4-BE49-F238E27FC236}">
                <a16:creationId xmlns:a16="http://schemas.microsoft.com/office/drawing/2014/main" id="{D81E50F6-6C9C-469A-6542-91CB0238AACF}"/>
              </a:ext>
            </a:extLst>
          </p:cNvPr>
          <p:cNvPicPr>
            <a:picLocks noChangeAspect="1"/>
          </p:cNvPicPr>
          <p:nvPr/>
        </p:nvPicPr>
        <p:blipFill>
          <a:blip r:embed="rId2"/>
          <a:stretch>
            <a:fillRect/>
          </a:stretch>
        </p:blipFill>
        <p:spPr>
          <a:xfrm>
            <a:off x="2160943" y="1632856"/>
            <a:ext cx="7499883" cy="5148943"/>
          </a:xfrm>
          <a:prstGeom prst="rect">
            <a:avLst/>
          </a:prstGeom>
          <a:ln>
            <a:solidFill>
              <a:schemeClr val="tx1"/>
            </a:solidFill>
          </a:ln>
        </p:spPr>
      </p:pic>
    </p:spTree>
    <p:extLst>
      <p:ext uri="{BB962C8B-B14F-4D97-AF65-F5344CB8AC3E}">
        <p14:creationId xmlns:p14="http://schemas.microsoft.com/office/powerpoint/2010/main" val="2453305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619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0" y="674914"/>
            <a:ext cx="12191998" cy="6183085"/>
          </a:xfrm>
        </p:spPr>
        <p:txBody>
          <a:bodyPr/>
          <a:lstStyle/>
          <a:p>
            <a:pPr marL="0" indent="0">
              <a:buNone/>
            </a:pPr>
            <a:r>
              <a:rPr lang="en-US" b="1" dirty="0">
                <a:latin typeface="Times New Roman" panose="02020603050405020304" pitchFamily="18" charset="0"/>
                <a:cs typeface="Times New Roman" panose="02020603050405020304" pitchFamily="18" charset="0"/>
              </a:rPr>
              <a:t>4.1. </a:t>
            </a:r>
            <a:r>
              <a:rPr lang="en-US" b="1" dirty="0" err="1">
                <a:latin typeface="Times New Roman" panose="02020603050405020304" pitchFamily="18" charset="0"/>
                <a:cs typeface="Times New Roman" panose="02020603050405020304" pitchFamily="18" charset="0"/>
              </a:rPr>
              <a:t>Kỹ</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hộp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đen</a:t>
            </a: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4.1.1. </a:t>
            </a:r>
            <a:r>
              <a:rPr lang="en-US" b="1" dirty="0" err="1">
                <a:latin typeface="Times New Roman" panose="02020603050405020304" pitchFamily="18" charset="0"/>
                <a:cs typeface="Times New Roman" panose="02020603050405020304" pitchFamily="18" charset="0"/>
              </a:rPr>
              <a:t>Kế</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hoạch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5" name="Hình ảnh 4">
            <a:extLst>
              <a:ext uri="{FF2B5EF4-FFF2-40B4-BE49-F238E27FC236}">
                <a16:creationId xmlns:a16="http://schemas.microsoft.com/office/drawing/2014/main" id="{A1B3A219-572E-44C5-B4A1-977C0458D967}"/>
              </a:ext>
            </a:extLst>
          </p:cNvPr>
          <p:cNvPicPr>
            <a:picLocks noChangeAspect="1"/>
          </p:cNvPicPr>
          <p:nvPr/>
        </p:nvPicPr>
        <p:blipFill>
          <a:blip r:embed="rId2"/>
          <a:stretch>
            <a:fillRect/>
          </a:stretch>
        </p:blipFill>
        <p:spPr>
          <a:xfrm>
            <a:off x="2177142" y="1629051"/>
            <a:ext cx="7636297" cy="5228948"/>
          </a:xfrm>
          <a:prstGeom prst="rect">
            <a:avLst/>
          </a:prstGeom>
          <a:ln>
            <a:solidFill>
              <a:schemeClr val="tx1"/>
            </a:solidFill>
          </a:ln>
        </p:spPr>
      </p:pic>
      <p:pic>
        <p:nvPicPr>
          <p:cNvPr id="8" name="Hình ảnh 7">
            <a:extLst>
              <a:ext uri="{FF2B5EF4-FFF2-40B4-BE49-F238E27FC236}">
                <a16:creationId xmlns:a16="http://schemas.microsoft.com/office/drawing/2014/main" id="{F32A660C-46DE-56E4-E8B1-645CAFA921F1}"/>
              </a:ext>
            </a:extLst>
          </p:cNvPr>
          <p:cNvPicPr>
            <a:picLocks noChangeAspect="1"/>
          </p:cNvPicPr>
          <p:nvPr/>
        </p:nvPicPr>
        <p:blipFill>
          <a:blip r:embed="rId3"/>
          <a:stretch>
            <a:fillRect/>
          </a:stretch>
        </p:blipFill>
        <p:spPr>
          <a:xfrm>
            <a:off x="1466203" y="2321152"/>
            <a:ext cx="9259592" cy="3238952"/>
          </a:xfrm>
          <a:prstGeom prst="rect">
            <a:avLst/>
          </a:prstGeom>
          <a:ln>
            <a:solidFill>
              <a:schemeClr val="tx1"/>
            </a:solidFill>
          </a:ln>
        </p:spPr>
      </p:pic>
      <p:pic>
        <p:nvPicPr>
          <p:cNvPr id="10" name="Hình ảnh 9">
            <a:extLst>
              <a:ext uri="{FF2B5EF4-FFF2-40B4-BE49-F238E27FC236}">
                <a16:creationId xmlns:a16="http://schemas.microsoft.com/office/drawing/2014/main" id="{0FD49F5E-7970-D1FC-C967-1391B02435C6}"/>
              </a:ext>
            </a:extLst>
          </p:cNvPr>
          <p:cNvPicPr>
            <a:picLocks noChangeAspect="1"/>
          </p:cNvPicPr>
          <p:nvPr/>
        </p:nvPicPr>
        <p:blipFill>
          <a:blip r:embed="rId4"/>
          <a:stretch>
            <a:fillRect/>
          </a:stretch>
        </p:blipFill>
        <p:spPr>
          <a:xfrm>
            <a:off x="2127476" y="1558104"/>
            <a:ext cx="7735627" cy="5299896"/>
          </a:xfrm>
          <a:prstGeom prst="rect">
            <a:avLst/>
          </a:prstGeom>
          <a:ln>
            <a:solidFill>
              <a:schemeClr val="tx1"/>
            </a:solidFill>
          </a:ln>
        </p:spPr>
      </p:pic>
      <p:pic>
        <p:nvPicPr>
          <p:cNvPr id="12" name="Hình ảnh 11">
            <a:extLst>
              <a:ext uri="{FF2B5EF4-FFF2-40B4-BE49-F238E27FC236}">
                <a16:creationId xmlns:a16="http://schemas.microsoft.com/office/drawing/2014/main" id="{58B1A358-0BB6-05D7-2F13-D67B1AC171F0}"/>
              </a:ext>
            </a:extLst>
          </p:cNvPr>
          <p:cNvPicPr>
            <a:picLocks noChangeAspect="1"/>
          </p:cNvPicPr>
          <p:nvPr/>
        </p:nvPicPr>
        <p:blipFill>
          <a:blip r:embed="rId5"/>
          <a:stretch>
            <a:fillRect/>
          </a:stretch>
        </p:blipFill>
        <p:spPr>
          <a:xfrm>
            <a:off x="1851492" y="1655246"/>
            <a:ext cx="8287593" cy="5176558"/>
          </a:xfrm>
          <a:prstGeom prst="rect">
            <a:avLst/>
          </a:prstGeom>
          <a:ln>
            <a:solidFill>
              <a:schemeClr val="tx1"/>
            </a:solidFill>
          </a:ln>
        </p:spPr>
      </p:pic>
      <p:pic>
        <p:nvPicPr>
          <p:cNvPr id="14" name="Hình ảnh 13">
            <a:extLst>
              <a:ext uri="{FF2B5EF4-FFF2-40B4-BE49-F238E27FC236}">
                <a16:creationId xmlns:a16="http://schemas.microsoft.com/office/drawing/2014/main" id="{119E7450-A3EA-BAB1-E59D-816154DE39DD}"/>
              </a:ext>
            </a:extLst>
          </p:cNvPr>
          <p:cNvPicPr>
            <a:picLocks noChangeAspect="1"/>
          </p:cNvPicPr>
          <p:nvPr/>
        </p:nvPicPr>
        <p:blipFill>
          <a:blip r:embed="rId6"/>
          <a:stretch>
            <a:fillRect/>
          </a:stretch>
        </p:blipFill>
        <p:spPr>
          <a:xfrm>
            <a:off x="1437624" y="2295367"/>
            <a:ext cx="9288171" cy="2267266"/>
          </a:xfrm>
          <a:prstGeom prst="rect">
            <a:avLst/>
          </a:prstGeom>
          <a:ln>
            <a:solidFill>
              <a:schemeClr val="tx1"/>
            </a:solidFill>
          </a:ln>
        </p:spPr>
      </p:pic>
    </p:spTree>
    <p:extLst>
      <p:ext uri="{BB962C8B-B14F-4D97-AF65-F5344CB8AC3E}">
        <p14:creationId xmlns:p14="http://schemas.microsoft.com/office/powerpoint/2010/main" val="30129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619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0" y="674914"/>
            <a:ext cx="12191998" cy="6183085"/>
          </a:xfrm>
        </p:spPr>
        <p:txBody>
          <a:bodyPr/>
          <a:lstStyle/>
          <a:p>
            <a:pPr marL="0" indent="0">
              <a:buNone/>
            </a:pPr>
            <a:r>
              <a:rPr lang="en-US" b="1" dirty="0">
                <a:latin typeface="Times New Roman" panose="02020603050405020304" pitchFamily="18" charset="0"/>
                <a:cs typeface="Times New Roman" panose="02020603050405020304" pitchFamily="18" charset="0"/>
              </a:rPr>
              <a:t>4.1. </a:t>
            </a:r>
            <a:r>
              <a:rPr lang="en-US" b="1" dirty="0" err="1">
                <a:latin typeface="Times New Roman" panose="02020603050405020304" pitchFamily="18" charset="0"/>
                <a:cs typeface="Times New Roman" panose="02020603050405020304" pitchFamily="18" charset="0"/>
              </a:rPr>
              <a:t>Kỹ</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hộp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đen</a:t>
            </a: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4.1.2. </a:t>
            </a:r>
            <a:r>
              <a:rPr lang="en-US" b="1" dirty="0" err="1">
                <a:latin typeface="Times New Roman" panose="02020603050405020304" pitchFamily="18" charset="0"/>
                <a:cs typeface="Times New Roman" panose="02020603050405020304" pitchFamily="18" charset="0"/>
              </a:rPr>
              <a:t>Trường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hợp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5" name="Hình ảnh 4">
            <a:extLst>
              <a:ext uri="{FF2B5EF4-FFF2-40B4-BE49-F238E27FC236}">
                <a16:creationId xmlns:a16="http://schemas.microsoft.com/office/drawing/2014/main" id="{0B133D42-7C72-BB94-FCD0-80F42C356921}"/>
              </a:ext>
            </a:extLst>
          </p:cNvPr>
          <p:cNvPicPr>
            <a:picLocks noChangeAspect="1"/>
          </p:cNvPicPr>
          <p:nvPr/>
        </p:nvPicPr>
        <p:blipFill>
          <a:blip r:embed="rId2"/>
          <a:stretch>
            <a:fillRect/>
          </a:stretch>
        </p:blipFill>
        <p:spPr>
          <a:xfrm>
            <a:off x="727720" y="1828801"/>
            <a:ext cx="10736560" cy="4844142"/>
          </a:xfrm>
          <a:prstGeom prst="rect">
            <a:avLst/>
          </a:prstGeom>
          <a:ln>
            <a:solidFill>
              <a:schemeClr val="tx1"/>
            </a:solidFill>
          </a:ln>
        </p:spPr>
      </p:pic>
      <p:pic>
        <p:nvPicPr>
          <p:cNvPr id="8" name="Hình ảnh 7">
            <a:extLst>
              <a:ext uri="{FF2B5EF4-FFF2-40B4-BE49-F238E27FC236}">
                <a16:creationId xmlns:a16="http://schemas.microsoft.com/office/drawing/2014/main" id="{C2AC5B68-0CEF-F956-9F3C-184CF40619E0}"/>
              </a:ext>
            </a:extLst>
          </p:cNvPr>
          <p:cNvPicPr>
            <a:picLocks noChangeAspect="1"/>
          </p:cNvPicPr>
          <p:nvPr/>
        </p:nvPicPr>
        <p:blipFill>
          <a:blip r:embed="rId3"/>
          <a:stretch>
            <a:fillRect/>
          </a:stretch>
        </p:blipFill>
        <p:spPr>
          <a:xfrm>
            <a:off x="373058" y="1926772"/>
            <a:ext cx="11255368" cy="4648200"/>
          </a:xfrm>
          <a:prstGeom prst="rect">
            <a:avLst/>
          </a:prstGeom>
          <a:ln>
            <a:solidFill>
              <a:schemeClr val="tx1"/>
            </a:solidFill>
          </a:ln>
        </p:spPr>
      </p:pic>
      <p:pic>
        <p:nvPicPr>
          <p:cNvPr id="10" name="Hình ảnh 9">
            <a:extLst>
              <a:ext uri="{FF2B5EF4-FFF2-40B4-BE49-F238E27FC236}">
                <a16:creationId xmlns:a16="http://schemas.microsoft.com/office/drawing/2014/main" id="{8F39C8C5-DDEA-1693-5568-42BDD14FA043}"/>
              </a:ext>
            </a:extLst>
          </p:cNvPr>
          <p:cNvPicPr>
            <a:picLocks noChangeAspect="1"/>
          </p:cNvPicPr>
          <p:nvPr/>
        </p:nvPicPr>
        <p:blipFill>
          <a:blip r:embed="rId4"/>
          <a:stretch>
            <a:fillRect/>
          </a:stretch>
        </p:blipFill>
        <p:spPr>
          <a:xfrm>
            <a:off x="373058" y="1875573"/>
            <a:ext cx="11255368" cy="4797370"/>
          </a:xfrm>
          <a:prstGeom prst="rect">
            <a:avLst/>
          </a:prstGeom>
          <a:ln>
            <a:solidFill>
              <a:schemeClr val="tx1"/>
            </a:solidFill>
          </a:ln>
        </p:spPr>
      </p:pic>
      <p:pic>
        <p:nvPicPr>
          <p:cNvPr id="12" name="Hình ảnh 11">
            <a:extLst>
              <a:ext uri="{FF2B5EF4-FFF2-40B4-BE49-F238E27FC236}">
                <a16:creationId xmlns:a16="http://schemas.microsoft.com/office/drawing/2014/main" id="{E0F532A5-B452-1510-ABC5-EA6D3429BA6F}"/>
              </a:ext>
            </a:extLst>
          </p:cNvPr>
          <p:cNvPicPr>
            <a:picLocks noChangeAspect="1"/>
          </p:cNvPicPr>
          <p:nvPr/>
        </p:nvPicPr>
        <p:blipFill>
          <a:blip r:embed="rId5"/>
          <a:stretch>
            <a:fillRect/>
          </a:stretch>
        </p:blipFill>
        <p:spPr>
          <a:xfrm>
            <a:off x="373058" y="1802419"/>
            <a:ext cx="11255368" cy="4772553"/>
          </a:xfrm>
          <a:prstGeom prst="rect">
            <a:avLst/>
          </a:prstGeom>
          <a:ln>
            <a:solidFill>
              <a:schemeClr val="tx1"/>
            </a:solidFill>
          </a:ln>
        </p:spPr>
      </p:pic>
      <p:pic>
        <p:nvPicPr>
          <p:cNvPr id="14" name="Hình ảnh 13">
            <a:extLst>
              <a:ext uri="{FF2B5EF4-FFF2-40B4-BE49-F238E27FC236}">
                <a16:creationId xmlns:a16="http://schemas.microsoft.com/office/drawing/2014/main" id="{73304DC2-D406-708E-105C-452DA21947CF}"/>
              </a:ext>
            </a:extLst>
          </p:cNvPr>
          <p:cNvPicPr>
            <a:picLocks noChangeAspect="1"/>
          </p:cNvPicPr>
          <p:nvPr/>
        </p:nvPicPr>
        <p:blipFill>
          <a:blip r:embed="rId6"/>
          <a:stretch>
            <a:fillRect/>
          </a:stretch>
        </p:blipFill>
        <p:spPr>
          <a:xfrm>
            <a:off x="727718" y="1639727"/>
            <a:ext cx="10600258" cy="5033216"/>
          </a:xfrm>
          <a:prstGeom prst="rect">
            <a:avLst/>
          </a:prstGeom>
          <a:ln>
            <a:solidFill>
              <a:schemeClr val="tx1"/>
            </a:solidFill>
          </a:ln>
        </p:spPr>
      </p:pic>
      <p:pic>
        <p:nvPicPr>
          <p:cNvPr id="16" name="Hình ảnh 15">
            <a:extLst>
              <a:ext uri="{FF2B5EF4-FFF2-40B4-BE49-F238E27FC236}">
                <a16:creationId xmlns:a16="http://schemas.microsoft.com/office/drawing/2014/main" id="{FE41214A-A8C7-D14D-21E5-B10B62622317}"/>
              </a:ext>
            </a:extLst>
          </p:cNvPr>
          <p:cNvPicPr>
            <a:picLocks noChangeAspect="1"/>
          </p:cNvPicPr>
          <p:nvPr/>
        </p:nvPicPr>
        <p:blipFill>
          <a:blip r:embed="rId7"/>
          <a:stretch>
            <a:fillRect/>
          </a:stretch>
        </p:blipFill>
        <p:spPr>
          <a:xfrm>
            <a:off x="427268" y="1715334"/>
            <a:ext cx="11539604" cy="4772552"/>
          </a:xfrm>
          <a:prstGeom prst="rect">
            <a:avLst/>
          </a:prstGeom>
          <a:ln>
            <a:solidFill>
              <a:schemeClr val="tx1"/>
            </a:solidFill>
          </a:ln>
        </p:spPr>
      </p:pic>
    </p:spTree>
    <p:extLst>
      <p:ext uri="{BB962C8B-B14F-4D97-AF65-F5344CB8AC3E}">
        <p14:creationId xmlns:p14="http://schemas.microsoft.com/office/powerpoint/2010/main" val="1769769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2"/>
            <a:ext cx="12192000" cy="674912"/>
          </a:xfrm>
        </p:spPr>
        <p:txBody>
          <a:bodyPr>
            <a:normAutofit fontScale="90000"/>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0" y="674914"/>
            <a:ext cx="12191998" cy="6183085"/>
          </a:xfrm>
        </p:spPr>
        <p:txBody>
          <a:bodyPr/>
          <a:lstStyle/>
          <a:p>
            <a:pPr marL="0" indent="0">
              <a:buNone/>
            </a:pPr>
            <a:r>
              <a:rPr lang="en-US" b="1" dirty="0">
                <a:latin typeface="Times New Roman" panose="02020603050405020304" pitchFamily="18" charset="0"/>
                <a:cs typeface="Times New Roman" panose="02020603050405020304" pitchFamily="18" charset="0"/>
              </a:rPr>
              <a:t>4.1. </a:t>
            </a:r>
            <a:r>
              <a:rPr lang="en-US" b="1" dirty="0" err="1">
                <a:latin typeface="Times New Roman" panose="02020603050405020304" pitchFamily="18" charset="0"/>
                <a:cs typeface="Times New Roman" panose="02020603050405020304" pitchFamily="18" charset="0"/>
              </a:rPr>
              <a:t>Kỹ</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hộp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đen</a:t>
            </a: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4.1.3. </a:t>
            </a:r>
            <a:r>
              <a:rPr lang="en-US" b="1" dirty="0" err="1">
                <a:latin typeface="Times New Roman" panose="02020603050405020304" pitchFamily="18" charset="0"/>
                <a:cs typeface="Times New Roman" panose="02020603050405020304" pitchFamily="18" charset="0"/>
              </a:rPr>
              <a:t>Báo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cáo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lỗi</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771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ình ảnh 4">
            <a:extLst>
              <a:ext uri="{FF2B5EF4-FFF2-40B4-BE49-F238E27FC236}">
                <a16:creationId xmlns:a16="http://schemas.microsoft.com/office/drawing/2014/main" id="{546AC03D-2627-5F7B-4623-65C3614E8EBC}"/>
              </a:ext>
            </a:extLst>
          </p:cNvPr>
          <p:cNvPicPr>
            <a:picLocks noChangeAspect="1"/>
          </p:cNvPicPr>
          <p:nvPr/>
        </p:nvPicPr>
        <p:blipFill>
          <a:blip r:embed="rId2"/>
          <a:stretch>
            <a:fillRect/>
          </a:stretch>
        </p:blipFill>
        <p:spPr>
          <a:xfrm>
            <a:off x="2220685" y="121174"/>
            <a:ext cx="7362100" cy="6736826"/>
          </a:xfrm>
          <a:prstGeom prst="rect">
            <a:avLst/>
          </a:prstGeom>
          <a:ln>
            <a:solidFill>
              <a:schemeClr val="tx1"/>
            </a:solidFill>
          </a:ln>
        </p:spPr>
      </p:pic>
      <p:pic>
        <p:nvPicPr>
          <p:cNvPr id="6" name="Hình ảnh 5">
            <a:extLst>
              <a:ext uri="{FF2B5EF4-FFF2-40B4-BE49-F238E27FC236}">
                <a16:creationId xmlns:a16="http://schemas.microsoft.com/office/drawing/2014/main" id="{F15460EA-016C-EC49-C9E7-570602B111EB}"/>
              </a:ext>
            </a:extLst>
          </p:cNvPr>
          <p:cNvPicPr>
            <a:picLocks noChangeAspect="1"/>
          </p:cNvPicPr>
          <p:nvPr/>
        </p:nvPicPr>
        <p:blipFill>
          <a:blip r:embed="rId3"/>
          <a:stretch>
            <a:fillRect/>
          </a:stretch>
        </p:blipFill>
        <p:spPr>
          <a:xfrm>
            <a:off x="2606223" y="121174"/>
            <a:ext cx="6591024" cy="6742541"/>
          </a:xfrm>
          <a:prstGeom prst="rect">
            <a:avLst/>
          </a:prstGeom>
          <a:ln>
            <a:solidFill>
              <a:schemeClr val="tx1"/>
            </a:solidFill>
          </a:ln>
        </p:spPr>
      </p:pic>
      <p:pic>
        <p:nvPicPr>
          <p:cNvPr id="8" name="Hình ảnh 7">
            <a:extLst>
              <a:ext uri="{FF2B5EF4-FFF2-40B4-BE49-F238E27FC236}">
                <a16:creationId xmlns:a16="http://schemas.microsoft.com/office/drawing/2014/main" id="{A62C9431-99E5-D9A3-14D0-7CCEB2B33332}"/>
              </a:ext>
            </a:extLst>
          </p:cNvPr>
          <p:cNvPicPr>
            <a:picLocks noChangeAspect="1"/>
          </p:cNvPicPr>
          <p:nvPr/>
        </p:nvPicPr>
        <p:blipFill>
          <a:blip r:embed="rId4"/>
          <a:stretch>
            <a:fillRect/>
          </a:stretch>
        </p:blipFill>
        <p:spPr>
          <a:xfrm>
            <a:off x="2419332" y="60587"/>
            <a:ext cx="6964806" cy="6736826"/>
          </a:xfrm>
          <a:prstGeom prst="rect">
            <a:avLst/>
          </a:prstGeom>
          <a:ln>
            <a:solidFill>
              <a:schemeClr val="tx1"/>
            </a:solidFill>
          </a:ln>
        </p:spPr>
      </p:pic>
      <p:pic>
        <p:nvPicPr>
          <p:cNvPr id="10" name="Hình ảnh 9">
            <a:extLst>
              <a:ext uri="{FF2B5EF4-FFF2-40B4-BE49-F238E27FC236}">
                <a16:creationId xmlns:a16="http://schemas.microsoft.com/office/drawing/2014/main" id="{61054BD1-C052-2717-564A-B7FF6E8843A0}"/>
              </a:ext>
            </a:extLst>
          </p:cNvPr>
          <p:cNvPicPr>
            <a:picLocks noChangeAspect="1"/>
          </p:cNvPicPr>
          <p:nvPr/>
        </p:nvPicPr>
        <p:blipFill>
          <a:blip r:embed="rId5"/>
          <a:stretch>
            <a:fillRect/>
          </a:stretch>
        </p:blipFill>
        <p:spPr>
          <a:xfrm>
            <a:off x="2319305" y="54872"/>
            <a:ext cx="6954142" cy="6736825"/>
          </a:xfrm>
          <a:prstGeom prst="rect">
            <a:avLst/>
          </a:prstGeom>
          <a:ln>
            <a:solidFill>
              <a:schemeClr val="tx1"/>
            </a:solidFill>
          </a:ln>
        </p:spPr>
      </p:pic>
      <p:pic>
        <p:nvPicPr>
          <p:cNvPr id="12" name="Hình ảnh 11">
            <a:extLst>
              <a:ext uri="{FF2B5EF4-FFF2-40B4-BE49-F238E27FC236}">
                <a16:creationId xmlns:a16="http://schemas.microsoft.com/office/drawing/2014/main" id="{423EFB01-599F-DA18-384C-A4010E0A6350}"/>
              </a:ext>
            </a:extLst>
          </p:cNvPr>
          <p:cNvPicPr>
            <a:picLocks noChangeAspect="1"/>
          </p:cNvPicPr>
          <p:nvPr/>
        </p:nvPicPr>
        <p:blipFill>
          <a:blip r:embed="rId6"/>
          <a:stretch>
            <a:fillRect/>
          </a:stretch>
        </p:blipFill>
        <p:spPr>
          <a:xfrm>
            <a:off x="2208614" y="49156"/>
            <a:ext cx="6837709" cy="6736825"/>
          </a:xfrm>
          <a:prstGeom prst="rect">
            <a:avLst/>
          </a:prstGeom>
          <a:ln>
            <a:solidFill>
              <a:schemeClr val="tx1"/>
            </a:solidFill>
          </a:ln>
        </p:spPr>
      </p:pic>
      <p:pic>
        <p:nvPicPr>
          <p:cNvPr id="14" name="Hình ảnh 13">
            <a:extLst>
              <a:ext uri="{FF2B5EF4-FFF2-40B4-BE49-F238E27FC236}">
                <a16:creationId xmlns:a16="http://schemas.microsoft.com/office/drawing/2014/main" id="{CB2AE867-F172-7F52-EF91-11363F54BB37}"/>
              </a:ext>
            </a:extLst>
          </p:cNvPr>
          <p:cNvPicPr>
            <a:picLocks noChangeAspect="1"/>
          </p:cNvPicPr>
          <p:nvPr/>
        </p:nvPicPr>
        <p:blipFill>
          <a:blip r:embed="rId7"/>
          <a:stretch>
            <a:fillRect/>
          </a:stretch>
        </p:blipFill>
        <p:spPr>
          <a:xfrm>
            <a:off x="2305656" y="2723"/>
            <a:ext cx="6643623" cy="6829689"/>
          </a:xfrm>
          <a:prstGeom prst="rect">
            <a:avLst/>
          </a:prstGeom>
          <a:ln>
            <a:solidFill>
              <a:schemeClr val="tx1"/>
            </a:solidFill>
          </a:ln>
        </p:spPr>
      </p:pic>
      <p:pic>
        <p:nvPicPr>
          <p:cNvPr id="16" name="Hình ảnh 15">
            <a:extLst>
              <a:ext uri="{FF2B5EF4-FFF2-40B4-BE49-F238E27FC236}">
                <a16:creationId xmlns:a16="http://schemas.microsoft.com/office/drawing/2014/main" id="{7A99CFD9-0215-2A61-E493-97F7FA9B95F4}"/>
              </a:ext>
            </a:extLst>
          </p:cNvPr>
          <p:cNvPicPr>
            <a:picLocks noChangeAspect="1"/>
          </p:cNvPicPr>
          <p:nvPr/>
        </p:nvPicPr>
        <p:blipFill>
          <a:blip r:embed="rId8"/>
          <a:stretch>
            <a:fillRect/>
          </a:stretch>
        </p:blipFill>
        <p:spPr>
          <a:xfrm>
            <a:off x="2208614" y="128605"/>
            <a:ext cx="7304053" cy="6693386"/>
          </a:xfrm>
          <a:prstGeom prst="rect">
            <a:avLst/>
          </a:prstGeom>
          <a:ln>
            <a:solidFill>
              <a:schemeClr val="tx1"/>
            </a:solidFill>
          </a:ln>
        </p:spPr>
      </p:pic>
    </p:spTree>
    <p:extLst>
      <p:ext uri="{BB962C8B-B14F-4D97-AF65-F5344CB8AC3E}">
        <p14:creationId xmlns:p14="http://schemas.microsoft.com/office/powerpoint/2010/main" val="255750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2"/>
            <a:ext cx="12192000" cy="674912"/>
          </a:xfrm>
        </p:spPr>
        <p:txBody>
          <a:bodyPr>
            <a:normAutofit fontScale="90000"/>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0" y="674914"/>
            <a:ext cx="12191998" cy="6183085"/>
          </a:xfrm>
        </p:spPr>
        <p:txBody>
          <a:bodyPr/>
          <a:lstStyle/>
          <a:p>
            <a:pPr marL="0" indent="0">
              <a:buNone/>
            </a:pPr>
            <a:r>
              <a:rPr lang="en-US" b="1" dirty="0">
                <a:latin typeface="Times New Roman" panose="02020603050405020304" pitchFamily="18" charset="0"/>
                <a:cs typeface="Times New Roman" panose="02020603050405020304" pitchFamily="18" charset="0"/>
              </a:rPr>
              <a:t>4.1. </a:t>
            </a:r>
            <a:r>
              <a:rPr lang="en-US" b="1" dirty="0" err="1">
                <a:latin typeface="Times New Roman" panose="02020603050405020304" pitchFamily="18" charset="0"/>
                <a:cs typeface="Times New Roman" panose="02020603050405020304" pitchFamily="18" charset="0"/>
              </a:rPr>
              <a:t>Kỹ</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hộp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đen</a:t>
            </a:r>
            <a:r>
              <a:rPr lang="en-US" b="1" dirty="0">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4.1.3. </a:t>
            </a:r>
            <a:r>
              <a:rPr lang="en-US" b="1" dirty="0" err="1">
                <a:latin typeface="Times New Roman" panose="02020603050405020304" pitchFamily="18" charset="0"/>
                <a:cs typeface="Times New Roman" panose="02020603050405020304" pitchFamily="18" charset="0"/>
              </a:rPr>
              <a:t>Tóm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tắt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báo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lỗi</a:t>
            </a:r>
            <a:r>
              <a:rPr lang="en-US" b="1" dirty="0">
                <a:latin typeface="Times New Roman" panose="02020603050405020304" pitchFamily="18" charset="0"/>
                <a:cs typeface="Times New Roman" panose="02020603050405020304" pitchFamily="18" charset="0"/>
              </a:rPr>
              <a:t>:</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5" name="Hình ảnh 4">
            <a:extLst>
              <a:ext uri="{FF2B5EF4-FFF2-40B4-BE49-F238E27FC236}">
                <a16:creationId xmlns:a16="http://schemas.microsoft.com/office/drawing/2014/main" id="{06C87DF8-2D04-8651-897F-50C7C8C7C544}"/>
              </a:ext>
            </a:extLst>
          </p:cNvPr>
          <p:cNvPicPr>
            <a:picLocks noChangeAspect="1"/>
          </p:cNvPicPr>
          <p:nvPr/>
        </p:nvPicPr>
        <p:blipFill>
          <a:blip r:embed="rId2"/>
          <a:stretch>
            <a:fillRect/>
          </a:stretch>
        </p:blipFill>
        <p:spPr>
          <a:xfrm>
            <a:off x="4299856" y="1197426"/>
            <a:ext cx="6749143" cy="5579414"/>
          </a:xfrm>
          <a:prstGeom prst="rect">
            <a:avLst/>
          </a:prstGeom>
          <a:ln>
            <a:solidFill>
              <a:schemeClr val="tx1"/>
            </a:solidFill>
          </a:ln>
        </p:spPr>
      </p:pic>
    </p:spTree>
    <p:extLst>
      <p:ext uri="{BB962C8B-B14F-4D97-AF65-F5344CB8AC3E}">
        <p14:creationId xmlns:p14="http://schemas.microsoft.com/office/powerpoint/2010/main" val="379448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892629"/>
            <a:ext cx="12192000" cy="5965370"/>
          </a:xfrm>
        </p:spPr>
        <p:txBody>
          <a:bodyPr/>
          <a:lstStyle/>
          <a:p>
            <a:pPr marL="0" indent="0">
              <a:buNone/>
            </a:pPr>
            <a:r>
              <a:rPr lang="en-US" b="1" dirty="0">
                <a:latin typeface="Times New Roman" panose="02020603050405020304" pitchFamily="18" charset="0"/>
                <a:cs typeface="Times New Roman" panose="02020603050405020304" pitchFamily="18" charset="0"/>
              </a:rPr>
              <a:t>4.2. </a:t>
            </a:r>
            <a:r>
              <a:rPr lang="en-US" b="1" dirty="0" err="1">
                <a:latin typeface="Times New Roman" panose="02020603050405020304" pitchFamily="18" charset="0"/>
                <a:cs typeface="Times New Roman" panose="02020603050405020304" pitchFamily="18" charset="0"/>
              </a:rPr>
              <a:t>Kỹ</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thuật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hộp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trắng</a:t>
            </a:r>
            <a:r>
              <a:rPr lang="en-US" b="1" dirty="0">
                <a:latin typeface="Times New Roman" panose="02020603050405020304" pitchFamily="18" charset="0"/>
                <a:cs typeface="Times New Roman" panose="02020603050405020304" pitchFamily="18" charset="0"/>
              </a:rPr>
              <a:t>:</a:t>
            </a:r>
          </a:p>
        </p:txBody>
      </p:sp>
      <p:pic>
        <p:nvPicPr>
          <p:cNvPr id="5" name="Hình ảnh 4">
            <a:extLst>
              <a:ext uri="{FF2B5EF4-FFF2-40B4-BE49-F238E27FC236}">
                <a16:creationId xmlns:a16="http://schemas.microsoft.com/office/drawing/2014/main" id="{3BFFD481-16F3-174E-045D-DF862620296A}"/>
              </a:ext>
            </a:extLst>
          </p:cNvPr>
          <p:cNvPicPr>
            <a:picLocks noChangeAspect="1"/>
          </p:cNvPicPr>
          <p:nvPr/>
        </p:nvPicPr>
        <p:blipFill>
          <a:blip r:embed="rId2"/>
          <a:stretch>
            <a:fillRect/>
          </a:stretch>
        </p:blipFill>
        <p:spPr>
          <a:xfrm>
            <a:off x="0" y="2318311"/>
            <a:ext cx="12192000" cy="2743891"/>
          </a:xfrm>
          <a:prstGeom prst="rect">
            <a:avLst/>
          </a:prstGeom>
          <a:ln>
            <a:solidFill>
              <a:schemeClr val="tx1"/>
            </a:solidFill>
          </a:ln>
        </p:spPr>
      </p:pic>
      <p:pic>
        <p:nvPicPr>
          <p:cNvPr id="7" name="Hình ảnh 6">
            <a:extLst>
              <a:ext uri="{FF2B5EF4-FFF2-40B4-BE49-F238E27FC236}">
                <a16:creationId xmlns:a16="http://schemas.microsoft.com/office/drawing/2014/main" id="{23334885-4C24-8499-4EBF-2B285EBA2CB5}"/>
              </a:ext>
            </a:extLst>
          </p:cNvPr>
          <p:cNvPicPr>
            <a:picLocks noChangeAspect="1"/>
          </p:cNvPicPr>
          <p:nvPr/>
        </p:nvPicPr>
        <p:blipFill>
          <a:blip r:embed="rId3"/>
          <a:stretch>
            <a:fillRect/>
          </a:stretch>
        </p:blipFill>
        <p:spPr>
          <a:xfrm>
            <a:off x="0" y="2070206"/>
            <a:ext cx="12242460" cy="3610215"/>
          </a:xfrm>
          <a:prstGeom prst="rect">
            <a:avLst/>
          </a:prstGeom>
          <a:ln>
            <a:solidFill>
              <a:schemeClr val="tx1"/>
            </a:solidFill>
          </a:ln>
        </p:spPr>
      </p:pic>
      <p:pic>
        <p:nvPicPr>
          <p:cNvPr id="9" name="Hình ảnh 8">
            <a:extLst>
              <a:ext uri="{FF2B5EF4-FFF2-40B4-BE49-F238E27FC236}">
                <a16:creationId xmlns:a16="http://schemas.microsoft.com/office/drawing/2014/main" id="{282951A6-08CA-8F95-220D-69CA335F61F8}"/>
              </a:ext>
            </a:extLst>
          </p:cNvPr>
          <p:cNvPicPr>
            <a:picLocks noChangeAspect="1"/>
          </p:cNvPicPr>
          <p:nvPr/>
        </p:nvPicPr>
        <p:blipFill>
          <a:blip r:embed="rId4"/>
          <a:stretch>
            <a:fillRect/>
          </a:stretch>
        </p:blipFill>
        <p:spPr>
          <a:xfrm>
            <a:off x="25229" y="1883228"/>
            <a:ext cx="12192000" cy="3857958"/>
          </a:xfrm>
          <a:prstGeom prst="rect">
            <a:avLst/>
          </a:prstGeom>
          <a:ln>
            <a:solidFill>
              <a:schemeClr val="tx1"/>
            </a:solidFill>
          </a:ln>
        </p:spPr>
      </p:pic>
      <p:pic>
        <p:nvPicPr>
          <p:cNvPr id="12" name="Hình ảnh 11">
            <a:extLst>
              <a:ext uri="{FF2B5EF4-FFF2-40B4-BE49-F238E27FC236}">
                <a16:creationId xmlns:a16="http://schemas.microsoft.com/office/drawing/2014/main" id="{6B2D5F96-6688-5AD6-7032-21F679AE313E}"/>
              </a:ext>
            </a:extLst>
          </p:cNvPr>
          <p:cNvPicPr>
            <a:picLocks noChangeAspect="1"/>
          </p:cNvPicPr>
          <p:nvPr/>
        </p:nvPicPr>
        <p:blipFill>
          <a:blip r:embed="rId5"/>
          <a:stretch>
            <a:fillRect/>
          </a:stretch>
        </p:blipFill>
        <p:spPr>
          <a:xfrm>
            <a:off x="-2" y="1849098"/>
            <a:ext cx="12192000" cy="4052430"/>
          </a:xfrm>
          <a:prstGeom prst="rect">
            <a:avLst/>
          </a:prstGeom>
          <a:ln>
            <a:solidFill>
              <a:schemeClr val="tx1"/>
            </a:solidFill>
          </a:ln>
        </p:spPr>
      </p:pic>
    </p:spTree>
    <p:extLst>
      <p:ext uri="{BB962C8B-B14F-4D97-AF65-F5344CB8AC3E}">
        <p14:creationId xmlns:p14="http://schemas.microsoft.com/office/powerpoint/2010/main" val="3560711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4: </a:t>
            </a:r>
            <a:r>
              <a:rPr lang="en-US" b="1" dirty="0" err="1">
                <a:latin typeface="Times New Roman" panose="02020603050405020304" pitchFamily="18" charset="0"/>
                <a:ea typeface="Tahoma" panose="020B0604030504040204" pitchFamily="34" charset="0"/>
                <a:cs typeface="Times New Roman" panose="02020603050405020304" pitchFamily="18" charset="0"/>
              </a:rPr>
              <a:t>Thiết</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kế</a:t>
            </a:r>
            <a:r>
              <a:rPr lang="en-US" b="1" dirty="0">
                <a:latin typeface="Times New Roman" panose="02020603050405020304" pitchFamily="18" charset="0"/>
                <a:ea typeface="Tahoma" panose="020B0604030504040204" pitchFamily="34" charset="0"/>
                <a:cs typeface="Times New Roman" panose="02020603050405020304" pitchFamily="18" charset="0"/>
              </a:rPr>
              <a:t> ca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4.3. </a:t>
            </a:r>
            <a:r>
              <a:rPr lang="en-US" b="1" dirty="0" err="1">
                <a:latin typeface="Times New Roman" panose="02020603050405020304" pitchFamily="18" charset="0"/>
                <a:cs typeface="Times New Roman" panose="02020603050405020304" pitchFamily="18" charset="0"/>
              </a:rPr>
              <a:t>Bảng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tổng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hợp</a:t>
            </a:r>
            <a:r>
              <a:rPr lang="en-US" b="1" dirty="0">
                <a:latin typeface="Times New Roman" panose="02020603050405020304" pitchFamily="18" charset="0"/>
                <a:cs typeface="Times New Roman" panose="02020603050405020304" pitchFamily="18" charset="0"/>
              </a:rPr>
              <a:t> test case:</a:t>
            </a:r>
          </a:p>
        </p:txBody>
      </p:sp>
      <p:pic>
        <p:nvPicPr>
          <p:cNvPr id="4" name="Hình ảnh 3">
            <a:extLst>
              <a:ext uri="{FF2B5EF4-FFF2-40B4-BE49-F238E27FC236}">
                <a16:creationId xmlns:a16="http://schemas.microsoft.com/office/drawing/2014/main" id="{848E12CF-88A4-8ED0-2610-A8807A4EF0F9}"/>
              </a:ext>
            </a:extLst>
          </p:cNvPr>
          <p:cNvPicPr>
            <a:picLocks noChangeAspect="1"/>
          </p:cNvPicPr>
          <p:nvPr/>
        </p:nvPicPr>
        <p:blipFill>
          <a:blip r:embed="rId2"/>
          <a:stretch>
            <a:fillRect/>
          </a:stretch>
        </p:blipFill>
        <p:spPr>
          <a:xfrm>
            <a:off x="-2" y="1849098"/>
            <a:ext cx="12192000" cy="4052430"/>
          </a:xfrm>
          <a:prstGeom prst="rect">
            <a:avLst/>
          </a:prstGeom>
          <a:ln>
            <a:solidFill>
              <a:schemeClr val="tx1"/>
            </a:solidFill>
          </a:ln>
        </p:spPr>
      </p:pic>
    </p:spTree>
    <p:extLst>
      <p:ext uri="{BB962C8B-B14F-4D97-AF65-F5344CB8AC3E}">
        <p14:creationId xmlns:p14="http://schemas.microsoft.com/office/powerpoint/2010/main" val="109429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2"/>
            <a:ext cx="12192000" cy="794656"/>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5: </a:t>
            </a:r>
            <a:r>
              <a:rPr lang="en-US" b="1" dirty="0" err="1">
                <a:latin typeface="Times New Roman" panose="02020603050405020304" pitchFamily="18" charset="0"/>
                <a:ea typeface="Tahoma" panose="020B0604030504040204" pitchFamily="34" charset="0"/>
                <a:cs typeface="Times New Roman" panose="02020603050405020304" pitchFamily="18" charset="0"/>
              </a:rPr>
              <a:t>Thực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794657"/>
            <a:ext cx="12191999" cy="6063342"/>
          </a:xfrm>
        </p:spPr>
        <p:txBody>
          <a:bodyPr/>
          <a:lstStyle/>
          <a:p>
            <a:pPr marL="0" indent="0">
              <a:buNone/>
            </a:pPr>
            <a:r>
              <a:rPr lang="en-US" b="1" dirty="0">
                <a:latin typeface="Times New Roman" panose="02020603050405020304" pitchFamily="18" charset="0"/>
                <a:cs typeface="Times New Roman" panose="02020603050405020304" pitchFamily="18" charset="0"/>
              </a:rPr>
              <a:t>5.1.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năng</a:t>
            </a:r>
            <a:r>
              <a:rPr lang="en-US" b="1" dirty="0">
                <a:latin typeface="Times New Roman" panose="02020603050405020304" pitchFamily="18" charset="0"/>
                <a:cs typeface="Times New Roman" panose="02020603050405020304" pitchFamily="18" charset="0"/>
              </a:rPr>
              <a:t> (Functional Testing):</a:t>
            </a:r>
          </a:p>
          <a:p>
            <a:pPr marL="0" indent="0">
              <a:buNone/>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nhập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thiếu</a:t>
            </a:r>
            <a:r>
              <a:rPr lang="en-US" b="1" dirty="0">
                <a:latin typeface="Times New Roman" panose="02020603050405020304" pitchFamily="18" charset="0"/>
                <a:cs typeface="Times New Roman" panose="02020603050405020304" pitchFamily="18" charset="0"/>
              </a:rPr>
              <a:t> ‘@’</a:t>
            </a:r>
          </a:p>
        </p:txBody>
      </p:sp>
      <p:pic>
        <p:nvPicPr>
          <p:cNvPr id="5" name="Hình ảnh 4">
            <a:extLst>
              <a:ext uri="{FF2B5EF4-FFF2-40B4-BE49-F238E27FC236}">
                <a16:creationId xmlns:a16="http://schemas.microsoft.com/office/drawing/2014/main" id="{BAF082D3-DC80-8629-58F7-EBECC501B600}"/>
              </a:ext>
            </a:extLst>
          </p:cNvPr>
          <p:cNvPicPr>
            <a:picLocks noChangeAspect="1"/>
          </p:cNvPicPr>
          <p:nvPr/>
        </p:nvPicPr>
        <p:blipFill>
          <a:blip r:embed="rId2"/>
          <a:stretch>
            <a:fillRect/>
          </a:stretch>
        </p:blipFill>
        <p:spPr>
          <a:xfrm>
            <a:off x="892627" y="1720692"/>
            <a:ext cx="11027859" cy="5039335"/>
          </a:xfrm>
          <a:prstGeom prst="rect">
            <a:avLst/>
          </a:prstGeom>
        </p:spPr>
      </p:pic>
    </p:spTree>
    <p:extLst>
      <p:ext uri="{BB962C8B-B14F-4D97-AF65-F5344CB8AC3E}">
        <p14:creationId xmlns:p14="http://schemas.microsoft.com/office/powerpoint/2010/main" val="77902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2"/>
            <a:ext cx="12192000" cy="794656"/>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5: </a:t>
            </a:r>
            <a:r>
              <a:rPr lang="en-US" b="1" dirty="0" err="1">
                <a:latin typeface="Times New Roman" panose="02020603050405020304" pitchFamily="18" charset="0"/>
                <a:ea typeface="Tahoma" panose="020B0604030504040204" pitchFamily="34" charset="0"/>
                <a:cs typeface="Times New Roman" panose="02020603050405020304" pitchFamily="18" charset="0"/>
              </a:rPr>
              <a:t>Thực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794657"/>
            <a:ext cx="12191999" cy="6063342"/>
          </a:xfrm>
        </p:spPr>
        <p:txBody>
          <a:bodyPr/>
          <a:lstStyle/>
          <a:p>
            <a:pPr marL="0" indent="0">
              <a:buNone/>
            </a:pPr>
            <a:r>
              <a:rPr lang="en-US" b="1" dirty="0">
                <a:latin typeface="Times New Roman" panose="02020603050405020304" pitchFamily="18" charset="0"/>
                <a:cs typeface="Times New Roman" panose="02020603050405020304" pitchFamily="18" charset="0"/>
              </a:rPr>
              <a:t>5.1.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năng</a:t>
            </a:r>
            <a:r>
              <a:rPr lang="en-US" b="1" dirty="0">
                <a:latin typeface="Times New Roman" panose="02020603050405020304" pitchFamily="18" charset="0"/>
                <a:cs typeface="Times New Roman" panose="02020603050405020304" pitchFamily="18" charset="0"/>
              </a:rPr>
              <a:t> (Functional Testing):</a:t>
            </a:r>
          </a:p>
          <a:p>
            <a:pPr marL="0" indent="0">
              <a:buNone/>
            </a:pP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Đăng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nhập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rỗng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thông</a:t>
            </a:r>
            <a:r>
              <a:rPr lang="en-US" b="1" dirty="0">
                <a:latin typeface="Times New Roman" panose="02020603050405020304" pitchFamily="18" charset="0"/>
                <a:cs typeface="Times New Roman" panose="02020603050405020304" pitchFamily="18" charset="0"/>
              </a:rPr>
              <a:t> tin.</a:t>
            </a:r>
          </a:p>
        </p:txBody>
      </p:sp>
      <p:pic>
        <p:nvPicPr>
          <p:cNvPr id="6" name="Hình ảnh 5">
            <a:extLst>
              <a:ext uri="{FF2B5EF4-FFF2-40B4-BE49-F238E27FC236}">
                <a16:creationId xmlns:a16="http://schemas.microsoft.com/office/drawing/2014/main" id="{52958D85-D1F7-B44A-9CA2-85B09C69E6CC}"/>
              </a:ext>
            </a:extLst>
          </p:cNvPr>
          <p:cNvPicPr>
            <a:picLocks noChangeAspect="1"/>
          </p:cNvPicPr>
          <p:nvPr/>
        </p:nvPicPr>
        <p:blipFill>
          <a:blip r:embed="rId2"/>
          <a:stretch>
            <a:fillRect/>
          </a:stretch>
        </p:blipFill>
        <p:spPr>
          <a:xfrm>
            <a:off x="740228" y="1727953"/>
            <a:ext cx="10983686" cy="5010304"/>
          </a:xfrm>
          <a:prstGeom prst="rect">
            <a:avLst/>
          </a:prstGeom>
        </p:spPr>
      </p:pic>
    </p:spTree>
    <p:extLst>
      <p:ext uri="{BB962C8B-B14F-4D97-AF65-F5344CB8AC3E}">
        <p14:creationId xmlns:p14="http://schemas.microsoft.com/office/powerpoint/2010/main" val="2452087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5: </a:t>
            </a:r>
            <a:r>
              <a:rPr lang="en-US" b="1" dirty="0" err="1">
                <a:latin typeface="Times New Roman" panose="02020603050405020304" pitchFamily="18" charset="0"/>
                <a:ea typeface="Tahoma" panose="020B0604030504040204" pitchFamily="34" charset="0"/>
                <a:cs typeface="Times New Roman" panose="02020603050405020304" pitchFamily="18" charset="0"/>
              </a:rPr>
              <a:t>Thực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5.2.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tích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hợp</a:t>
            </a:r>
            <a:r>
              <a:rPr lang="en-US" b="1" dirty="0">
                <a:latin typeface="Times New Roman" panose="02020603050405020304" pitchFamily="18" charset="0"/>
                <a:cs typeface="Times New Roman" panose="02020603050405020304" pitchFamily="18" charset="0"/>
              </a:rPr>
              <a:t> (Integration Testing):</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khoản</a:t>
            </a:r>
            <a:r>
              <a:rPr lang="en-US" dirty="0">
                <a:latin typeface="Times New Roman" panose="02020603050405020304" pitchFamily="18" charset="0"/>
                <a:cs typeface="Times New Roman" panose="02020603050405020304" pitchFamily="18" charset="0"/>
              </a:rPr>
              <a:t>:</a:t>
            </a:r>
          </a:p>
        </p:txBody>
      </p:sp>
      <p:pic>
        <p:nvPicPr>
          <p:cNvPr id="5" name="Hình ảnh 4">
            <a:extLst>
              <a:ext uri="{FF2B5EF4-FFF2-40B4-BE49-F238E27FC236}">
                <a16:creationId xmlns:a16="http://schemas.microsoft.com/office/drawing/2014/main" id="{963E5AF5-55AE-54C0-551B-A744B42FEF0F}"/>
              </a:ext>
            </a:extLst>
          </p:cNvPr>
          <p:cNvPicPr>
            <a:picLocks noChangeAspect="1"/>
          </p:cNvPicPr>
          <p:nvPr/>
        </p:nvPicPr>
        <p:blipFill>
          <a:blip r:embed="rId2"/>
          <a:stretch>
            <a:fillRect/>
          </a:stretch>
        </p:blipFill>
        <p:spPr>
          <a:xfrm>
            <a:off x="1548383" y="2057399"/>
            <a:ext cx="9446768" cy="4659087"/>
          </a:xfrm>
          <a:prstGeom prst="rect">
            <a:avLst/>
          </a:prstGeom>
        </p:spPr>
      </p:pic>
      <p:pic>
        <p:nvPicPr>
          <p:cNvPr id="7" name="Hình ảnh 6">
            <a:extLst>
              <a:ext uri="{FF2B5EF4-FFF2-40B4-BE49-F238E27FC236}">
                <a16:creationId xmlns:a16="http://schemas.microsoft.com/office/drawing/2014/main" id="{F288AFB6-EFE5-2A84-CED2-5EE8C32BD9DE}"/>
              </a:ext>
            </a:extLst>
          </p:cNvPr>
          <p:cNvPicPr>
            <a:picLocks noChangeAspect="1"/>
          </p:cNvPicPr>
          <p:nvPr/>
        </p:nvPicPr>
        <p:blipFill>
          <a:blip r:embed="rId3"/>
          <a:stretch>
            <a:fillRect/>
          </a:stretch>
        </p:blipFill>
        <p:spPr>
          <a:xfrm>
            <a:off x="1548383" y="2044855"/>
            <a:ext cx="9502212" cy="4813145"/>
          </a:xfrm>
          <a:prstGeom prst="rect">
            <a:avLst/>
          </a:prstGeom>
        </p:spPr>
      </p:pic>
      <p:pic>
        <p:nvPicPr>
          <p:cNvPr id="9" name="Hình ảnh 8">
            <a:extLst>
              <a:ext uri="{FF2B5EF4-FFF2-40B4-BE49-F238E27FC236}">
                <a16:creationId xmlns:a16="http://schemas.microsoft.com/office/drawing/2014/main" id="{9E79AA7B-5AD1-1885-7132-B54907D94FA5}"/>
              </a:ext>
            </a:extLst>
          </p:cNvPr>
          <p:cNvPicPr>
            <a:picLocks noChangeAspect="1"/>
          </p:cNvPicPr>
          <p:nvPr/>
        </p:nvPicPr>
        <p:blipFill>
          <a:blip r:embed="rId4"/>
          <a:stretch>
            <a:fillRect/>
          </a:stretch>
        </p:blipFill>
        <p:spPr>
          <a:xfrm>
            <a:off x="1492938" y="2116896"/>
            <a:ext cx="9502213" cy="4669062"/>
          </a:xfrm>
          <a:prstGeom prst="rect">
            <a:avLst/>
          </a:prstGeom>
        </p:spPr>
      </p:pic>
    </p:spTree>
    <p:extLst>
      <p:ext uri="{BB962C8B-B14F-4D97-AF65-F5344CB8AC3E}">
        <p14:creationId xmlns:p14="http://schemas.microsoft.com/office/powerpoint/2010/main" val="307276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5: </a:t>
            </a:r>
            <a:r>
              <a:rPr lang="en-US" b="1" dirty="0" err="1">
                <a:latin typeface="Times New Roman" panose="02020603050405020304" pitchFamily="18" charset="0"/>
                <a:ea typeface="Tahoma" panose="020B0604030504040204" pitchFamily="34" charset="0"/>
                <a:cs typeface="Times New Roman" panose="02020603050405020304" pitchFamily="18" charset="0"/>
              </a:rPr>
              <a:t>Thực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5.3. </a:t>
            </a:r>
            <a:r>
              <a:rPr lang="en-US" b="1" dirty="0" err="1">
                <a:latin typeface="Times New Roman" panose="02020603050405020304" pitchFamily="18" charset="0"/>
                <a:cs typeface="Times New Roman" panose="02020603050405020304" pitchFamily="18" charset="0"/>
              </a:rPr>
              <a:t>Kiểm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hệ</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thống</a:t>
            </a:r>
            <a:r>
              <a:rPr lang="en-US" b="1" dirty="0">
                <a:latin typeface="Times New Roman" panose="02020603050405020304" pitchFamily="18" charset="0"/>
                <a:cs typeface="Times New Roman" panose="02020603050405020304" pitchFamily="18" charset="0"/>
              </a:rPr>
              <a:t> (System Testing):</a:t>
            </a:r>
          </a:p>
        </p:txBody>
      </p:sp>
      <p:pic>
        <p:nvPicPr>
          <p:cNvPr id="5" name="Hình ảnh 4">
            <a:extLst>
              <a:ext uri="{FF2B5EF4-FFF2-40B4-BE49-F238E27FC236}">
                <a16:creationId xmlns:a16="http://schemas.microsoft.com/office/drawing/2014/main" id="{F753F248-FD98-90E4-B9D4-5696ED817AAA}"/>
              </a:ext>
            </a:extLst>
          </p:cNvPr>
          <p:cNvPicPr>
            <a:picLocks noChangeAspect="1"/>
          </p:cNvPicPr>
          <p:nvPr/>
        </p:nvPicPr>
        <p:blipFill>
          <a:blip r:embed="rId2"/>
          <a:stretch>
            <a:fillRect/>
          </a:stretch>
        </p:blipFill>
        <p:spPr>
          <a:xfrm>
            <a:off x="1077683" y="1593740"/>
            <a:ext cx="10036629" cy="5264259"/>
          </a:xfrm>
          <a:prstGeom prst="rect">
            <a:avLst/>
          </a:prstGeom>
        </p:spPr>
      </p:pic>
    </p:spTree>
    <p:extLst>
      <p:ext uri="{BB962C8B-B14F-4D97-AF65-F5344CB8AC3E}">
        <p14:creationId xmlns:p14="http://schemas.microsoft.com/office/powerpoint/2010/main" val="239964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5: </a:t>
            </a:r>
            <a:r>
              <a:rPr lang="en-US" b="1" dirty="0" err="1">
                <a:latin typeface="Times New Roman" panose="02020603050405020304" pitchFamily="18" charset="0"/>
                <a:ea typeface="Tahoma" panose="020B0604030504040204" pitchFamily="34" charset="0"/>
                <a:cs typeface="Times New Roman" panose="02020603050405020304" pitchFamily="18" charset="0"/>
              </a:rPr>
              <a:t>Thực</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thi</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5.4. </a:t>
            </a:r>
            <a:r>
              <a:rPr lang="en-US" b="1" dirty="0" err="1">
                <a:latin typeface="Times New Roman" panose="02020603050405020304" pitchFamily="18" charset="0"/>
                <a:cs typeface="Times New Roman" panose="02020603050405020304" pitchFamily="18" charset="0"/>
              </a:rPr>
              <a:t>Nếu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có</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9596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6.1. </a:t>
            </a:r>
            <a:r>
              <a:rPr lang="en-US" b="1" dirty="0" err="1">
                <a:latin typeface="Times New Roman" panose="02020603050405020304" pitchFamily="18" charset="0"/>
                <a:cs typeface="Times New Roman" panose="02020603050405020304" pitchFamily="18" charset="0"/>
              </a:rPr>
              <a:t>Công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cụ</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sử</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dụng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lý</a:t>
            </a:r>
            <a:r>
              <a:rPr lang="en-US" b="1" dirty="0">
                <a:latin typeface="Times New Roman" panose="02020603050405020304" pitchFamily="18" charset="0"/>
                <a:cs typeface="Times New Roman" panose="02020603050405020304" pitchFamily="18" charset="0"/>
              </a:rPr>
              <a:t> do </a:t>
            </a:r>
            <a:r>
              <a:rPr lang="en-US" b="1" dirty="0" err="1">
                <a:latin typeface="Times New Roman" panose="02020603050405020304" pitchFamily="18" charset="0"/>
                <a:cs typeface="Times New Roman" panose="02020603050405020304" pitchFamily="18" charset="0"/>
              </a:rPr>
              <a:t>chọn</a:t>
            </a:r>
            <a:r>
              <a:rPr lang="en-US" b="1" dirty="0">
                <a:latin typeface="Times New Roman" panose="02020603050405020304" pitchFamily="18" charset="0"/>
                <a:cs typeface="Times New Roman" panose="02020603050405020304" pitchFamily="18" charset="0"/>
              </a:rPr>
              <a:t>:</a:t>
            </a:r>
          </a:p>
          <a:p>
            <a:pPr>
              <a:buFontTx/>
              <a:buChar char="-"/>
            </a:pPr>
            <a:r>
              <a:rPr lang="en-US" dirty="0" err="1">
                <a:latin typeface="Times New Roman" panose="02020603050405020304" pitchFamily="18" charset="0"/>
                <a:cs typeface="Times New Roman" panose="02020603050405020304" pitchFamily="18" charset="0"/>
              </a:rPr>
              <a:t>Vì</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OWASP ZAP là công cụ mã nguồn mở và hoàn toàn miễn phí, giúp người dùng dễ dàng tiếp cận và sử dụng mà không tốn chi phí bản quyền.</a:t>
            </a:r>
            <a:endParaRPr lang="en-US" dirty="0">
              <a:latin typeface="Times New Roman" panose="02020603050405020304" pitchFamily="18" charset="0"/>
              <a:cs typeface="Times New Roman" panose="02020603050405020304" pitchFamily="18" charset="0"/>
            </a:endParaRPr>
          </a:p>
          <a:p>
            <a:pPr>
              <a:buFontTx/>
              <a:buChar char="-"/>
            </a:pPr>
            <a:r>
              <a:rPr lang="vi-VN" dirty="0">
                <a:latin typeface="Times New Roman" panose="02020603050405020304" pitchFamily="18" charset="0"/>
                <a:cs typeface="Times New Roman" panose="02020603050405020304" pitchFamily="18" charset="0"/>
              </a:rPr>
              <a:t>OWASP ZAP là công cụ mã nguồn mở và hoàn toàn miễn phí, giúp người dùng dễ dàng tiếp cận và sử dụng mà không tốn chi phí bản quyền.</a:t>
            </a:r>
            <a:endParaRPr lang="en-US" dirty="0">
              <a:latin typeface="Times New Roman" panose="02020603050405020304" pitchFamily="18" charset="0"/>
              <a:cs typeface="Times New Roman" panose="02020603050405020304" pitchFamily="18" charset="0"/>
            </a:endParaRPr>
          </a:p>
          <a:p>
            <a:pPr>
              <a:buFontTx/>
              <a:buChar char="-"/>
            </a:pPr>
            <a:r>
              <a:rPr lang="vi-VN" dirty="0">
                <a:latin typeface="Times New Roman" panose="02020603050405020304" pitchFamily="18" charset="0"/>
                <a:cs typeface="Times New Roman" panose="02020603050405020304" pitchFamily="18" charset="0"/>
              </a:rPr>
              <a:t>Công cụ có khả năng quét và phát hiện các lỗ hổng bảo mật thường gặp như:</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SQL </a:t>
            </a:r>
            <a:r>
              <a:rPr lang="vi-VN" dirty="0" err="1">
                <a:latin typeface="Times New Roman" panose="02020603050405020304" pitchFamily="18" charset="0"/>
                <a:cs typeface="Times New Roman" panose="02020603050405020304" pitchFamily="18" charset="0"/>
              </a:rPr>
              <a:t>Injection</a:t>
            </a:r>
            <a:r>
              <a:rPr lang="en-US"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Cross-Site</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Scripting</a:t>
            </a:r>
            <a:r>
              <a:rPr lang="vi-VN" dirty="0">
                <a:latin typeface="Times New Roman" panose="02020603050405020304" pitchFamily="18" charset="0"/>
                <a:cs typeface="Times New Roman" panose="02020603050405020304" pitchFamily="18" charset="0"/>
              </a:rPr>
              <a:t> (XSS)</a:t>
            </a:r>
            <a:r>
              <a:rPr lang="en-US"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Security</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Misconfiguration</a:t>
            </a:r>
            <a:r>
              <a:rPr lang="en-US"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Broken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Authentication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Các lỗ hổng trong danh sách OWASP </a:t>
            </a:r>
            <a:r>
              <a:rPr lang="vi-VN" dirty="0" err="1">
                <a:latin typeface="Times New Roman" panose="02020603050405020304" pitchFamily="18" charset="0"/>
                <a:cs typeface="Times New Roman" panose="02020603050405020304" pitchFamily="18" charset="0"/>
              </a:rPr>
              <a:t>Top</a:t>
            </a:r>
            <a:r>
              <a:rPr lang="vi-VN" dirty="0">
                <a:latin typeface="Times New Roman" panose="02020603050405020304" pitchFamily="18" charset="0"/>
                <a:cs typeface="Times New Roman" panose="02020603050405020304" pitchFamily="18" charset="0"/>
              </a:rPr>
              <a:t> 10</a:t>
            </a:r>
            <a:r>
              <a:rPr lang="en-US" dirty="0">
                <a:latin typeface="Times New Roman" panose="02020603050405020304" pitchFamily="18" charset="0"/>
                <a:cs typeface="Times New Roman" panose="02020603050405020304" pitchFamily="18" charset="0"/>
              </a:rPr>
              <a:t>.</a:t>
            </a:r>
            <a:endParaRPr lang="vi-VN" dirty="0">
              <a:latin typeface="Times New Roman" panose="02020603050405020304" pitchFamily="18" charset="0"/>
              <a:cs typeface="Times New Roman" panose="02020603050405020304" pitchFamily="18" charset="0"/>
            </a:endParaRPr>
          </a:p>
          <a:p>
            <a:pPr>
              <a:buFontTx/>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612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6.2. </a:t>
            </a:r>
            <a:r>
              <a:rPr lang="en-US" b="1" dirty="0" err="1">
                <a:latin typeface="Times New Roman" panose="02020603050405020304" pitchFamily="18" charset="0"/>
                <a:cs typeface="Times New Roman" panose="02020603050405020304" pitchFamily="18" charset="0"/>
              </a:rPr>
              <a:t>Các</a:t>
            </a:r>
            <a:r>
              <a:rPr lang="en-US" b="1" dirty="0">
                <a:latin typeface="Times New Roman" panose="02020603050405020304" pitchFamily="18" charset="0"/>
                <a:cs typeface="Times New Roman" panose="02020603050405020304" pitchFamily="18" charset="0"/>
              </a:rPr>
              <a:t> test script </a:t>
            </a:r>
            <a:r>
              <a:rPr lang="en-US" b="1" dirty="0" err="1">
                <a:latin typeface="Times New Roman" panose="02020603050405020304" pitchFamily="18" charset="0"/>
                <a:cs typeface="Times New Roman" panose="02020603050405020304" pitchFamily="18" charset="0"/>
              </a:rPr>
              <a:t>đã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viết</a:t>
            </a:r>
            <a:r>
              <a:rPr lang="en-US"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1464815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6.3. </a:t>
            </a:r>
            <a:r>
              <a:rPr lang="en-US" b="1" dirty="0" err="1">
                <a:latin typeface="Times New Roman" panose="02020603050405020304" pitchFamily="18" charset="0"/>
                <a:cs typeface="Times New Roman" panose="02020603050405020304" pitchFamily="18" charset="0"/>
              </a:rPr>
              <a:t>Hướng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dẫn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cài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đặt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và</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script:</a:t>
            </a:r>
          </a:p>
        </p:txBody>
      </p:sp>
      <p:pic>
        <p:nvPicPr>
          <p:cNvPr id="5" name="Hình ảnh 4">
            <a:extLst>
              <a:ext uri="{FF2B5EF4-FFF2-40B4-BE49-F238E27FC236}">
                <a16:creationId xmlns:a16="http://schemas.microsoft.com/office/drawing/2014/main" id="{C79FCF8F-D4C5-3B5C-027A-ACE7D7723471}"/>
              </a:ext>
            </a:extLst>
          </p:cNvPr>
          <p:cNvPicPr>
            <a:picLocks noChangeAspect="1"/>
          </p:cNvPicPr>
          <p:nvPr/>
        </p:nvPicPr>
        <p:blipFill>
          <a:blip r:embed="rId2"/>
          <a:stretch>
            <a:fillRect/>
          </a:stretch>
        </p:blipFill>
        <p:spPr>
          <a:xfrm>
            <a:off x="1077686" y="1589547"/>
            <a:ext cx="9673211" cy="5061623"/>
          </a:xfrm>
          <a:prstGeom prst="rect">
            <a:avLst/>
          </a:prstGeom>
          <a:ln>
            <a:solidFill>
              <a:schemeClr val="tx1"/>
            </a:solidFill>
          </a:ln>
        </p:spPr>
      </p:pic>
      <p:pic>
        <p:nvPicPr>
          <p:cNvPr id="9" name="Hình ảnh 8">
            <a:extLst>
              <a:ext uri="{FF2B5EF4-FFF2-40B4-BE49-F238E27FC236}">
                <a16:creationId xmlns:a16="http://schemas.microsoft.com/office/drawing/2014/main" id="{DF274BB7-1338-BE53-D5EF-6EF2E2BC5951}"/>
              </a:ext>
            </a:extLst>
          </p:cNvPr>
          <p:cNvPicPr>
            <a:picLocks noChangeAspect="1"/>
          </p:cNvPicPr>
          <p:nvPr/>
        </p:nvPicPr>
        <p:blipFill>
          <a:blip r:embed="rId3"/>
          <a:stretch>
            <a:fillRect/>
          </a:stretch>
        </p:blipFill>
        <p:spPr>
          <a:xfrm>
            <a:off x="953754" y="1589547"/>
            <a:ext cx="9797143" cy="5136466"/>
          </a:xfrm>
          <a:prstGeom prst="rect">
            <a:avLst/>
          </a:prstGeom>
          <a:ln>
            <a:solidFill>
              <a:schemeClr val="tx1"/>
            </a:solidFill>
          </a:ln>
        </p:spPr>
      </p:pic>
    </p:spTree>
    <p:extLst>
      <p:ext uri="{BB962C8B-B14F-4D97-AF65-F5344CB8AC3E}">
        <p14:creationId xmlns:p14="http://schemas.microsoft.com/office/powerpoint/2010/main" val="217227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51113"/>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653143"/>
            <a:ext cx="12191999" cy="6204856"/>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6.4.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a:t>
            </a:r>
          </a:p>
          <a:p>
            <a:pPr>
              <a:lnSpc>
                <a:spcPct val="100000"/>
              </a:lnSpc>
              <a:spcBef>
                <a:spcPts val="0"/>
              </a:spcBef>
              <a:spcAft>
                <a:spcPts val="800"/>
              </a:spcAft>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Tên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cảnh</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Directory Browsing(</a:t>
            </a:r>
            <a:r>
              <a:rPr lang="vi-VN" b="1" dirty="0"/>
              <a:t>Duyệt thư mục</a:t>
            </a:r>
            <a:r>
              <a:rPr lang="en-US" b="1" dirty="0"/>
              <a:t>)</a:t>
            </a:r>
            <a:endParaRPr lang="en-US" sz="2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Bef>
                <a:spcPts val="0"/>
              </a:spcBef>
              <a:spcAft>
                <a:spcPts val="800"/>
              </a:spcAft>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Mức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cảnh</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báo</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Trung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bình</a:t>
            </a:r>
            <a:endParaRPr lang="en-US" sz="2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a:lnSpc>
                <a:spcPct val="100000"/>
              </a:lnSpc>
              <a:spcBef>
                <a:spcPts val="0"/>
              </a:spcBef>
              <a:spcAft>
                <a:spcPts val="800"/>
              </a:spcAft>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Nội</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dung:</a:t>
            </a:r>
          </a:p>
          <a:p>
            <a:pPr marL="342900" lvl="0" indent="-342900">
              <a:lnSpc>
                <a:spcPct val="100000"/>
              </a:lnSpc>
              <a:spcBef>
                <a:spcPts val="0"/>
              </a:spcBef>
              <a:buFont typeface="Aptos" panose="020B0004020202020204" pitchFamily="34" charset="0"/>
              <a:buChar char="-"/>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Biết</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cấu</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trúc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thư</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mục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bên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trong</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(internal folder structure).</a:t>
            </a:r>
          </a:p>
          <a:p>
            <a:pPr marL="342900" lvl="0" indent="-342900">
              <a:lnSpc>
                <a:spcPct val="100000"/>
              </a:lnSpc>
              <a:spcBef>
                <a:spcPts val="0"/>
              </a:spcBef>
              <a:buFont typeface="Aptos" panose="020B0004020202020204" pitchFamily="34" charset="0"/>
              <a:buChar char="-"/>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Phát</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hiện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file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không</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public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cố</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ý (backup file, file config, file source code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cũ</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file test, file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chứa</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secret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tạm</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thời</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00000"/>
              </a:lnSpc>
              <a:spcBef>
                <a:spcPts val="0"/>
              </a:spcBef>
              <a:buFont typeface="Aptos" panose="020B0004020202020204" pitchFamily="34" charset="0"/>
              <a:buChar char="-"/>
            </a:pP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Tìm</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tên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file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có</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pattern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nhạy</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cảm</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ví</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dụ</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env.local</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config.js,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users.json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database.sql.bak</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00000"/>
              </a:lnSpc>
              <a:spcBef>
                <a:spcPts val="0"/>
              </a:spcBef>
              <a:spcAft>
                <a:spcPts val="800"/>
              </a:spcAft>
              <a:buFont typeface="Aptos" panose="020B0004020202020204" pitchFamily="34" charset="0"/>
              <a:buChar char="-"/>
            </a:pP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hợp</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với</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các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lỗ</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hổng</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khác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để</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tấn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công</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sâu</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hơn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a:lnSpc>
                <a:spcPct val="100000"/>
              </a:lnSpc>
              <a:spcBef>
                <a:spcPts val="0"/>
              </a:spcBef>
              <a:spcAft>
                <a:spcPts val="800"/>
              </a:spcAft>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Kết</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quả</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342900" lvl="0" indent="-342900">
              <a:lnSpc>
                <a:spcPct val="100000"/>
              </a:lnSpc>
              <a:spcBef>
                <a:spcPts val="0"/>
              </a:spcBef>
              <a:spcAft>
                <a:spcPts val="800"/>
              </a:spcAft>
              <a:buFont typeface="Aptos" panose="020B0004020202020204" pitchFamily="34" charset="0"/>
              <a:buChar char="-"/>
            </a:pP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Việc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lộ</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danh</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sách</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file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vẫn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được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coi</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là</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information disclosure → vi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phạm</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nguyên</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tắc</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least privilege </a:t>
            </a:r>
            <a:r>
              <a:rPr lang="en-US" sz="2800" kern="100" dirty="0" err="1">
                <a:effectLst/>
                <a:latin typeface="Times New Roman" panose="02020603050405020304" pitchFamily="18" charset="0"/>
                <a:ea typeface="Aptos" panose="020B0004020202020204" pitchFamily="34" charset="0"/>
                <a:cs typeface="Times New Roman" panose="02020603050405020304" pitchFamily="18" charset="0"/>
              </a:rPr>
              <a:t>và</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 CWE-548.</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5" name="Chỗ dành sẵn cho Nội dung 4" descr="Ảnh có chứa văn bản, phần mềm, số, Biểu tượng máy tính&#10;&#10;Nội dung do AI tạo ra có thể không chính xác.">
            <a:extLst>
              <a:ext uri="{FF2B5EF4-FFF2-40B4-BE49-F238E27FC236}">
                <a16:creationId xmlns:a16="http://schemas.microsoft.com/office/drawing/2014/main" id="{FB65F3A4-8176-CC90-D3AD-8F04F4202C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855" y="898110"/>
            <a:ext cx="10859045" cy="5714921"/>
          </a:xfrm>
          <a:prstGeom prst="rect">
            <a:avLst/>
          </a:prstGeom>
        </p:spPr>
      </p:pic>
    </p:spTree>
    <p:extLst>
      <p:ext uri="{BB962C8B-B14F-4D97-AF65-F5344CB8AC3E}">
        <p14:creationId xmlns:p14="http://schemas.microsoft.com/office/powerpoint/2010/main" val="74658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51113"/>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653143"/>
            <a:ext cx="12191999" cy="6204856"/>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6.4.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a:t>
            </a:r>
          </a:p>
          <a:p>
            <a:r>
              <a:rPr lang="en-US" dirty="0" err="1"/>
              <a:t>Tên</a:t>
            </a:r>
            <a:r>
              <a:rPr lang="en-US" dirty="0"/>
              <a:t> </a:t>
            </a:r>
            <a:r>
              <a:rPr lang="en-US" dirty="0" err="1"/>
              <a:t>cảnh</a:t>
            </a:r>
            <a:r>
              <a:rPr lang="en-US" dirty="0"/>
              <a:t> </a:t>
            </a:r>
            <a:r>
              <a:rPr lang="en-US" dirty="0" err="1"/>
              <a:t>báo</a:t>
            </a:r>
            <a:r>
              <a:rPr lang="en-US" dirty="0"/>
              <a:t>: Missing Anti-clickjacking Header(</a:t>
            </a:r>
            <a:r>
              <a:rPr lang="en-US" b="1" dirty="0" err="1"/>
              <a:t>Thiếu</a:t>
            </a:r>
            <a:r>
              <a:rPr lang="en-US" b="1" dirty="0"/>
              <a:t> </a:t>
            </a:r>
            <a:r>
              <a:rPr lang="en-US" b="1" dirty="0" err="1"/>
              <a:t>tiêu</a:t>
            </a:r>
            <a:r>
              <a:rPr lang="en-US" b="1" dirty="0"/>
              <a:t> </a:t>
            </a:r>
            <a:r>
              <a:rPr lang="en-US" b="1" dirty="0" err="1"/>
              <a:t>đề</a:t>
            </a:r>
            <a:r>
              <a:rPr lang="en-US" b="1" dirty="0"/>
              <a:t> </a:t>
            </a:r>
            <a:r>
              <a:rPr lang="en-US" b="1" dirty="0" err="1"/>
              <a:t>chống</a:t>
            </a:r>
            <a:r>
              <a:rPr lang="en-US" b="1" dirty="0"/>
              <a:t> clickjacking</a:t>
            </a:r>
            <a:r>
              <a:rPr lang="en-US" dirty="0"/>
              <a:t>)</a:t>
            </a:r>
          </a:p>
          <a:p>
            <a:r>
              <a:rPr lang="en-US" dirty="0" err="1"/>
              <a:t>Mức</a:t>
            </a:r>
            <a:r>
              <a:rPr lang="en-US" dirty="0"/>
              <a:t> </a:t>
            </a:r>
            <a:r>
              <a:rPr lang="en-US" dirty="0" err="1"/>
              <a:t>cảnh</a:t>
            </a:r>
            <a:r>
              <a:rPr lang="en-US" dirty="0"/>
              <a:t> </a:t>
            </a:r>
            <a:r>
              <a:rPr lang="en-US" dirty="0" err="1"/>
              <a:t>báo</a:t>
            </a:r>
            <a:r>
              <a:rPr lang="en-US" dirty="0"/>
              <a:t>: Trung </a:t>
            </a:r>
            <a:r>
              <a:rPr lang="en-US" dirty="0" err="1"/>
              <a:t>bình</a:t>
            </a:r>
            <a:endParaRPr lang="en-US" dirty="0"/>
          </a:p>
          <a:p>
            <a:r>
              <a:rPr lang="en-US" dirty="0" err="1"/>
              <a:t>Nội</a:t>
            </a:r>
            <a:r>
              <a:rPr lang="en-US" dirty="0"/>
              <a:t> dung:</a:t>
            </a:r>
          </a:p>
          <a:p>
            <a:pPr lvl="0"/>
            <a:r>
              <a:rPr lang="en-US" dirty="0"/>
              <a:t>Clickjacking </a:t>
            </a:r>
            <a:r>
              <a:rPr lang="en-US" dirty="0" err="1"/>
              <a:t>có</a:t>
            </a:r>
            <a:r>
              <a:rPr lang="en-US" dirty="0"/>
              <a:t> </a:t>
            </a:r>
            <a:r>
              <a:rPr lang="en-US" dirty="0" err="1"/>
              <a:t>thể</a:t>
            </a:r>
            <a:r>
              <a:rPr lang="en-US" dirty="0"/>
              <a:t> </a:t>
            </a:r>
            <a:r>
              <a:rPr lang="en-US" dirty="0" err="1"/>
              <a:t>dẫn</a:t>
            </a:r>
            <a:r>
              <a:rPr lang="en-US" dirty="0"/>
              <a:t> </a:t>
            </a:r>
            <a:r>
              <a:rPr lang="en-US" dirty="0" err="1"/>
              <a:t>đến</a:t>
            </a:r>
            <a:r>
              <a:rPr lang="en-US" dirty="0"/>
              <a:t> social engineering </a:t>
            </a:r>
            <a:r>
              <a:rPr lang="en-US" dirty="0" err="1"/>
              <a:t>nghiêm</a:t>
            </a:r>
            <a:r>
              <a:rPr lang="en-US" dirty="0"/>
              <a:t> </a:t>
            </a:r>
            <a:r>
              <a:rPr lang="en-US" dirty="0" err="1"/>
              <a:t>trọng</a:t>
            </a:r>
            <a:r>
              <a:rPr lang="en-US" dirty="0"/>
              <a:t> </a:t>
            </a:r>
            <a:r>
              <a:rPr lang="en-US" dirty="0" err="1"/>
              <a:t>nếu</a:t>
            </a:r>
            <a:r>
              <a:rPr lang="en-US" dirty="0"/>
              <a:t> app </a:t>
            </a:r>
            <a:r>
              <a:rPr lang="en-US" dirty="0" err="1"/>
              <a:t>có</a:t>
            </a:r>
            <a:r>
              <a:rPr lang="en-US" dirty="0"/>
              <a:t> </a:t>
            </a:r>
            <a:r>
              <a:rPr lang="en-US" dirty="0" err="1"/>
              <a:t>hành</a:t>
            </a:r>
            <a:r>
              <a:rPr lang="en-US" dirty="0"/>
              <a:t> </a:t>
            </a:r>
            <a:r>
              <a:rPr lang="en-US" dirty="0" err="1"/>
              <a:t>động</a:t>
            </a:r>
            <a:r>
              <a:rPr lang="en-US" dirty="0"/>
              <a:t> </a:t>
            </a:r>
            <a:r>
              <a:rPr lang="en-US" dirty="0" err="1"/>
              <a:t>nhạy</a:t>
            </a:r>
            <a:r>
              <a:rPr lang="en-US" dirty="0"/>
              <a:t> </a:t>
            </a:r>
            <a:r>
              <a:rPr lang="en-US" dirty="0" err="1"/>
              <a:t>cảm</a:t>
            </a:r>
            <a:r>
              <a:rPr lang="en-US" dirty="0"/>
              <a:t> (login, payment, admin actions...). </a:t>
            </a:r>
          </a:p>
          <a:p>
            <a:pPr lvl="0"/>
            <a:r>
              <a:rPr lang="en-US" dirty="0"/>
              <a:t> </a:t>
            </a:r>
            <a:r>
              <a:rPr lang="en-US" dirty="0" err="1"/>
              <a:t>Không</a:t>
            </a:r>
            <a:r>
              <a:rPr lang="en-US" dirty="0"/>
              <a:t> </a:t>
            </a:r>
            <a:r>
              <a:rPr lang="en-US" dirty="0" err="1"/>
              <a:t>phải</a:t>
            </a:r>
            <a:r>
              <a:rPr lang="en-US" dirty="0"/>
              <a:t> critical </a:t>
            </a:r>
            <a:r>
              <a:rPr lang="en-US" dirty="0" err="1"/>
              <a:t>như</a:t>
            </a:r>
            <a:r>
              <a:rPr lang="en-US" dirty="0"/>
              <a:t> SQLi hay RCE, </a:t>
            </a:r>
            <a:r>
              <a:rPr lang="en-US" dirty="0" err="1"/>
              <a:t>nhưng</a:t>
            </a:r>
            <a:r>
              <a:rPr lang="en-US" dirty="0"/>
              <a:t> </a:t>
            </a:r>
            <a:r>
              <a:rPr lang="en-US" dirty="0" err="1"/>
              <a:t>vẫn</a:t>
            </a:r>
            <a:r>
              <a:rPr lang="en-US" dirty="0"/>
              <a:t> </a:t>
            </a:r>
            <a:r>
              <a:rPr lang="en-US" dirty="0" err="1"/>
              <a:t>nguy</a:t>
            </a:r>
            <a:r>
              <a:rPr lang="en-US" dirty="0"/>
              <a:t> </a:t>
            </a:r>
            <a:r>
              <a:rPr lang="en-US" dirty="0" err="1"/>
              <a:t>hiểm</a:t>
            </a:r>
            <a:r>
              <a:rPr lang="en-US" dirty="0"/>
              <a:t> </a:t>
            </a:r>
            <a:r>
              <a:rPr lang="en-US" dirty="0" err="1"/>
              <a:t>nếu</a:t>
            </a:r>
            <a:r>
              <a:rPr lang="en-US" dirty="0"/>
              <a:t> attacker </a:t>
            </a:r>
            <a:r>
              <a:rPr lang="en-US" dirty="0" err="1"/>
              <a:t>kết</a:t>
            </a:r>
            <a:r>
              <a:rPr lang="en-US" dirty="0"/>
              <a:t> </a:t>
            </a:r>
            <a:r>
              <a:rPr lang="en-US" dirty="0" err="1"/>
              <a:t>hợp</a:t>
            </a:r>
            <a:r>
              <a:rPr lang="en-US" dirty="0"/>
              <a:t> </a:t>
            </a:r>
            <a:r>
              <a:rPr lang="en-US" dirty="0" err="1"/>
              <a:t>với</a:t>
            </a:r>
            <a:r>
              <a:rPr lang="en-US" dirty="0"/>
              <a:t> </a:t>
            </a:r>
            <a:r>
              <a:rPr lang="en-US" dirty="0" err="1"/>
              <a:t>lừa</a:t>
            </a:r>
            <a:r>
              <a:rPr lang="en-US" dirty="0"/>
              <a:t> </a:t>
            </a:r>
            <a:r>
              <a:rPr lang="en-US" dirty="0" err="1"/>
              <a:t>đảo</a:t>
            </a:r>
            <a:r>
              <a:rPr lang="en-US" dirty="0"/>
              <a:t> (</a:t>
            </a:r>
            <a:r>
              <a:rPr lang="en-US" dirty="0" err="1"/>
              <a:t>ví</a:t>
            </a:r>
            <a:r>
              <a:rPr lang="en-US" dirty="0"/>
              <a:t> </a:t>
            </a:r>
            <a:r>
              <a:rPr lang="en-US" dirty="0" err="1"/>
              <a:t>dụ</a:t>
            </a:r>
            <a:r>
              <a:rPr lang="en-US" dirty="0"/>
              <a:t>: </a:t>
            </a:r>
            <a:r>
              <a:rPr lang="en-US" dirty="0" err="1"/>
              <a:t>giả</a:t>
            </a:r>
            <a:r>
              <a:rPr lang="en-US" dirty="0"/>
              <a:t> </a:t>
            </a:r>
            <a:r>
              <a:rPr lang="en-US" dirty="0" err="1"/>
              <a:t>trang</a:t>
            </a:r>
            <a:r>
              <a:rPr lang="en-US" dirty="0"/>
              <a:t> Facebook </a:t>
            </a:r>
            <a:r>
              <a:rPr lang="en-US" dirty="0" err="1"/>
              <a:t>nhúng</a:t>
            </a:r>
            <a:r>
              <a:rPr lang="en-US" dirty="0"/>
              <a:t> </a:t>
            </a:r>
            <a:r>
              <a:rPr lang="en-US" dirty="0" err="1"/>
              <a:t>iframe</a:t>
            </a:r>
            <a:r>
              <a:rPr lang="en-US" dirty="0"/>
              <a:t> </a:t>
            </a:r>
            <a:r>
              <a:rPr lang="en-US" dirty="0" err="1"/>
              <a:t>ngân</a:t>
            </a:r>
            <a:r>
              <a:rPr lang="en-US" dirty="0"/>
              <a:t> </a:t>
            </a:r>
            <a:r>
              <a:rPr lang="en-US" dirty="0" err="1"/>
              <a:t>hàng</a:t>
            </a:r>
            <a:r>
              <a:rPr lang="en-US" dirty="0"/>
              <a:t> </a:t>
            </a:r>
            <a:r>
              <a:rPr lang="en-US" dirty="0" err="1"/>
              <a:t>của</a:t>
            </a:r>
            <a:r>
              <a:rPr lang="en-US" dirty="0"/>
              <a:t> </a:t>
            </a:r>
            <a:r>
              <a:rPr lang="en-US" dirty="0" err="1"/>
              <a:t>bạn</a:t>
            </a:r>
            <a:r>
              <a:rPr lang="en-US" dirty="0"/>
              <a:t>). </a:t>
            </a:r>
          </a:p>
          <a:p>
            <a:pPr lvl="0"/>
            <a:r>
              <a:rPr lang="en-US" dirty="0"/>
              <a:t> CWE: 1021 (Improper Restriction of Rendered UI Layers or Frames). </a:t>
            </a:r>
          </a:p>
          <a:p>
            <a:pPr lvl="0"/>
            <a:r>
              <a:rPr lang="en-US" dirty="0"/>
              <a:t>WASC: 15.</a:t>
            </a:r>
          </a:p>
          <a:p>
            <a:r>
              <a:rPr lang="en-US" dirty="0" err="1"/>
              <a:t>Kết</a:t>
            </a:r>
            <a:r>
              <a:rPr lang="en-US" dirty="0"/>
              <a:t> </a:t>
            </a:r>
            <a:r>
              <a:rPr lang="en-US" dirty="0" err="1"/>
              <a:t>quả</a:t>
            </a:r>
            <a:r>
              <a:rPr lang="en-US" dirty="0"/>
              <a:t>:</a:t>
            </a:r>
          </a:p>
          <a:p>
            <a:pPr lvl="0"/>
            <a:r>
              <a:rPr lang="en-US" dirty="0"/>
              <a:t>Next.js dev server (next dev) </a:t>
            </a:r>
            <a:r>
              <a:rPr lang="en-US" dirty="0" err="1"/>
              <a:t>không</a:t>
            </a:r>
            <a:r>
              <a:rPr lang="en-US" dirty="0"/>
              <a:t> </a:t>
            </a:r>
            <a:r>
              <a:rPr lang="en-US" dirty="0" err="1"/>
              <a:t>tự</a:t>
            </a:r>
            <a:r>
              <a:rPr lang="en-US" dirty="0"/>
              <a:t> </a:t>
            </a:r>
            <a:r>
              <a:rPr lang="en-US" dirty="0" err="1"/>
              <a:t>động</a:t>
            </a:r>
            <a:r>
              <a:rPr lang="en-US" dirty="0"/>
              <a:t> </a:t>
            </a:r>
            <a:r>
              <a:rPr lang="en-US" dirty="0" err="1"/>
              <a:t>thêm</a:t>
            </a:r>
            <a:r>
              <a:rPr lang="en-US" dirty="0"/>
              <a:t> </a:t>
            </a:r>
            <a:r>
              <a:rPr lang="en-US" dirty="0" err="1"/>
              <a:t>các</a:t>
            </a:r>
            <a:r>
              <a:rPr lang="en-US" dirty="0"/>
              <a:t> security header </a:t>
            </a:r>
            <a:r>
              <a:rPr lang="en-US" dirty="0" err="1"/>
              <a:t>như</a:t>
            </a:r>
            <a:r>
              <a:rPr lang="en-US" dirty="0"/>
              <a:t> X-Frame-Options </a:t>
            </a:r>
            <a:r>
              <a:rPr lang="en-US" dirty="0" err="1"/>
              <a:t>hoặc</a:t>
            </a:r>
            <a:r>
              <a:rPr lang="en-US" dirty="0"/>
              <a:t> CSP frame-ancestors (</a:t>
            </a:r>
            <a:r>
              <a:rPr lang="en-US" dirty="0" err="1"/>
              <a:t>để</a:t>
            </a:r>
            <a:r>
              <a:rPr lang="en-US" dirty="0"/>
              <a:t> </a:t>
            </a:r>
            <a:r>
              <a:rPr lang="en-US" dirty="0" err="1"/>
              <a:t>tiện</a:t>
            </a:r>
            <a:r>
              <a:rPr lang="en-US" dirty="0"/>
              <a:t> debug </a:t>
            </a:r>
            <a:r>
              <a:rPr lang="en-US" dirty="0" err="1"/>
              <a:t>và</a:t>
            </a:r>
            <a:r>
              <a:rPr lang="en-US" dirty="0"/>
              <a:t> </a:t>
            </a:r>
            <a:r>
              <a:rPr lang="en-US" dirty="0" err="1"/>
              <a:t>phát</a:t>
            </a:r>
            <a:r>
              <a:rPr lang="en-US" dirty="0"/>
              <a:t> </a:t>
            </a:r>
            <a:r>
              <a:rPr lang="en-US" dirty="0" err="1"/>
              <a:t>triển</a:t>
            </a:r>
            <a:r>
              <a:rPr lang="en-US" dirty="0"/>
              <a:t>). </a:t>
            </a:r>
          </a:p>
          <a:p>
            <a:pPr lvl="0"/>
            <a:r>
              <a:rPr lang="en-US" dirty="0"/>
              <a:t>Trong production (next build + next start, </a:t>
            </a:r>
            <a:r>
              <a:rPr lang="en-US" dirty="0" err="1"/>
              <a:t>hoặc</a:t>
            </a:r>
            <a:r>
              <a:rPr lang="en-US" dirty="0"/>
              <a:t> deploy </a:t>
            </a:r>
            <a:r>
              <a:rPr lang="en-US" dirty="0" err="1"/>
              <a:t>Vercel</a:t>
            </a:r>
            <a:r>
              <a:rPr lang="en-US" dirty="0"/>
              <a:t>/Netlify), Next.js </a:t>
            </a:r>
            <a:r>
              <a:rPr lang="en-US" dirty="0" err="1"/>
              <a:t>cũng</a:t>
            </a:r>
            <a:r>
              <a:rPr lang="en-US" dirty="0"/>
              <a:t> </a:t>
            </a:r>
            <a:r>
              <a:rPr lang="en-US" dirty="0" err="1"/>
              <a:t>không</a:t>
            </a:r>
            <a:r>
              <a:rPr lang="en-US" dirty="0"/>
              <a:t> </a:t>
            </a:r>
            <a:r>
              <a:rPr lang="en-US" dirty="0" err="1"/>
              <a:t>thêm</a:t>
            </a:r>
            <a:r>
              <a:rPr lang="en-US" dirty="0"/>
              <a:t> </a:t>
            </a:r>
            <a:r>
              <a:rPr lang="en-US" dirty="0" err="1"/>
              <a:t>mặc</a:t>
            </a:r>
            <a:r>
              <a:rPr lang="en-US" dirty="0"/>
              <a:t> </a:t>
            </a:r>
            <a:r>
              <a:rPr lang="en-US" dirty="0" err="1"/>
              <a:t>định</a:t>
            </a:r>
            <a:r>
              <a:rPr lang="en-US" dirty="0"/>
              <a:t> </a:t>
            </a:r>
            <a:r>
              <a:rPr lang="en-US" dirty="0" err="1"/>
              <a:t>các</a:t>
            </a:r>
            <a:r>
              <a:rPr lang="en-US" dirty="0"/>
              <a:t> header </a:t>
            </a:r>
            <a:r>
              <a:rPr lang="en-US" dirty="0" err="1"/>
              <a:t>này</a:t>
            </a:r>
            <a:r>
              <a:rPr lang="en-US" dirty="0"/>
              <a:t> → </a:t>
            </a:r>
            <a:r>
              <a:rPr lang="en-US" dirty="0" err="1"/>
              <a:t>bạn</a:t>
            </a:r>
            <a:r>
              <a:rPr lang="en-US" dirty="0"/>
              <a:t> </a:t>
            </a:r>
            <a:r>
              <a:rPr lang="en-US" dirty="0" err="1"/>
              <a:t>phải</a:t>
            </a:r>
            <a:r>
              <a:rPr lang="en-US" dirty="0"/>
              <a:t> config </a:t>
            </a:r>
            <a:r>
              <a:rPr lang="en-US" dirty="0" err="1"/>
              <a:t>thủ</a:t>
            </a:r>
            <a:r>
              <a:rPr lang="en-US" dirty="0"/>
              <a:t> </a:t>
            </a:r>
            <a:r>
              <a:rPr lang="en-US" dirty="0" err="1"/>
              <a:t>công</a:t>
            </a:r>
            <a:r>
              <a:rPr lang="en-US" dirty="0"/>
              <a:t>..</a:t>
            </a:r>
          </a:p>
          <a:p>
            <a:pPr marL="0" indent="0">
              <a:buNone/>
            </a:pPr>
            <a:endParaRPr lang="en-US" b="1" dirty="0">
              <a:latin typeface="Times New Roman" panose="02020603050405020304" pitchFamily="18" charset="0"/>
              <a:cs typeface="Times New Roman" panose="02020603050405020304" pitchFamily="18" charset="0"/>
            </a:endParaRPr>
          </a:p>
        </p:txBody>
      </p:sp>
      <p:pic>
        <p:nvPicPr>
          <p:cNvPr id="4" name="Chỗ dành sẵn cho Nội dung 4" descr="Ảnh có chứa văn bản, ảnh chụp màn hình, phần mềm, Biểu tượng máy tính&#10;&#10;Nội dung do AI tạo ra có thể không chính xác.">
            <a:extLst>
              <a:ext uri="{FF2B5EF4-FFF2-40B4-BE49-F238E27FC236}">
                <a16:creationId xmlns:a16="http://schemas.microsoft.com/office/drawing/2014/main" id="{ACD7470F-00F3-A4F6-B686-96F9919E78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5969" y="910544"/>
            <a:ext cx="10280058" cy="5788024"/>
          </a:xfrm>
          <a:prstGeom prst="rect">
            <a:avLst/>
          </a:prstGeom>
        </p:spPr>
      </p:pic>
    </p:spTree>
    <p:extLst>
      <p:ext uri="{BB962C8B-B14F-4D97-AF65-F5344CB8AC3E}">
        <p14:creationId xmlns:p14="http://schemas.microsoft.com/office/powerpoint/2010/main" val="103826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51113"/>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653143"/>
            <a:ext cx="12191999" cy="6204856"/>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6.4.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a:t>
            </a:r>
          </a:p>
          <a:p>
            <a:r>
              <a:rPr lang="en-US" dirty="0" err="1"/>
              <a:t>Tên</a:t>
            </a:r>
            <a:r>
              <a:rPr lang="en-US" dirty="0"/>
              <a:t> </a:t>
            </a:r>
            <a:r>
              <a:rPr lang="en-US" dirty="0" err="1"/>
              <a:t>cảnh</a:t>
            </a:r>
            <a:r>
              <a:rPr lang="en-US" dirty="0"/>
              <a:t> </a:t>
            </a:r>
            <a:r>
              <a:rPr lang="en-US" dirty="0" err="1"/>
              <a:t>báo</a:t>
            </a:r>
            <a:r>
              <a:rPr lang="en-US" dirty="0"/>
              <a:t>: Application Error Disclosure(</a:t>
            </a:r>
            <a:r>
              <a:rPr lang="en-US" b="1" dirty="0" err="1"/>
              <a:t>Tiết</a:t>
            </a:r>
            <a:r>
              <a:rPr lang="en-US" b="1" dirty="0"/>
              <a:t> </a:t>
            </a:r>
            <a:r>
              <a:rPr lang="en-US" b="1" dirty="0" err="1"/>
              <a:t>lộ</a:t>
            </a:r>
            <a:r>
              <a:rPr lang="en-US" b="1" dirty="0"/>
              <a:t> </a:t>
            </a:r>
            <a:r>
              <a:rPr lang="en-US" b="1" dirty="0" err="1"/>
              <a:t>lỗi</a:t>
            </a:r>
            <a:r>
              <a:rPr lang="en-US" b="1" dirty="0"/>
              <a:t> </a:t>
            </a:r>
            <a:r>
              <a:rPr lang="en-US" b="1" dirty="0" err="1"/>
              <a:t>ứng</a:t>
            </a:r>
            <a:r>
              <a:rPr lang="en-US" b="1" dirty="0"/>
              <a:t> </a:t>
            </a:r>
            <a:r>
              <a:rPr lang="en-US" b="1" dirty="0" err="1"/>
              <a:t>dụng</a:t>
            </a:r>
            <a:r>
              <a:rPr lang="en-US" dirty="0"/>
              <a:t>)</a:t>
            </a:r>
          </a:p>
          <a:p>
            <a:r>
              <a:rPr lang="en-US" dirty="0" err="1"/>
              <a:t>Mức</a:t>
            </a:r>
            <a:r>
              <a:rPr lang="en-US" dirty="0"/>
              <a:t> </a:t>
            </a:r>
            <a:r>
              <a:rPr lang="en-US" dirty="0" err="1"/>
              <a:t>cảnh</a:t>
            </a:r>
            <a:r>
              <a:rPr lang="en-US" dirty="0"/>
              <a:t> </a:t>
            </a:r>
            <a:r>
              <a:rPr lang="en-US" dirty="0" err="1"/>
              <a:t>báo</a:t>
            </a:r>
            <a:r>
              <a:rPr lang="en-US" dirty="0"/>
              <a:t>: </a:t>
            </a:r>
            <a:r>
              <a:rPr lang="en-US" dirty="0" err="1"/>
              <a:t>Thấp</a:t>
            </a:r>
            <a:endParaRPr lang="en-US" dirty="0"/>
          </a:p>
          <a:p>
            <a:r>
              <a:rPr lang="en-US" dirty="0" err="1"/>
              <a:t>Nội</a:t>
            </a:r>
            <a:r>
              <a:rPr lang="en-US" dirty="0"/>
              <a:t> dung:</a:t>
            </a:r>
          </a:p>
          <a:p>
            <a:pPr lvl="0"/>
            <a:r>
              <a:rPr lang="en-US" dirty="0" err="1"/>
              <a:t>Đang</a:t>
            </a:r>
            <a:r>
              <a:rPr lang="en-US" dirty="0"/>
              <a:t> </a:t>
            </a:r>
            <a:r>
              <a:rPr lang="en-US" dirty="0" err="1"/>
              <a:t>chạy</a:t>
            </a:r>
            <a:r>
              <a:rPr lang="en-US" dirty="0"/>
              <a:t> development mode (next dev) → Next.js </a:t>
            </a:r>
            <a:r>
              <a:rPr lang="en-US" dirty="0" err="1"/>
              <a:t>hiển</a:t>
            </a:r>
            <a:r>
              <a:rPr lang="en-US" dirty="0"/>
              <a:t> </a:t>
            </a:r>
            <a:r>
              <a:rPr lang="en-US" dirty="0" err="1"/>
              <a:t>thị</a:t>
            </a:r>
            <a:r>
              <a:rPr lang="en-US" dirty="0"/>
              <a:t> full error page </a:t>
            </a:r>
            <a:r>
              <a:rPr lang="en-US" dirty="0" err="1"/>
              <a:t>với</a:t>
            </a:r>
            <a:r>
              <a:rPr lang="en-US" dirty="0"/>
              <a:t> chi </a:t>
            </a:r>
            <a:r>
              <a:rPr lang="en-US" dirty="0" err="1"/>
              <a:t>tiết</a:t>
            </a:r>
            <a:r>
              <a:rPr lang="en-US" dirty="0"/>
              <a:t> (stack trace, file path) </a:t>
            </a:r>
            <a:r>
              <a:rPr lang="en-US" dirty="0" err="1"/>
              <a:t>để</a:t>
            </a:r>
            <a:r>
              <a:rPr lang="en-US" dirty="0"/>
              <a:t> dev </a:t>
            </a:r>
            <a:r>
              <a:rPr lang="en-US" dirty="0" err="1"/>
              <a:t>dễ</a:t>
            </a:r>
            <a:r>
              <a:rPr lang="en-US" dirty="0"/>
              <a:t> debug. </a:t>
            </a:r>
          </a:p>
          <a:p>
            <a:pPr lvl="0"/>
            <a:r>
              <a:rPr lang="en-US" dirty="0"/>
              <a:t> Request </a:t>
            </a:r>
            <a:r>
              <a:rPr lang="en-US" dirty="0" err="1"/>
              <a:t>bị</a:t>
            </a:r>
            <a:r>
              <a:rPr lang="en-US" dirty="0"/>
              <a:t> </a:t>
            </a:r>
            <a:r>
              <a:rPr lang="en-US" dirty="0" err="1"/>
              <a:t>lỗi</a:t>
            </a:r>
            <a:r>
              <a:rPr lang="en-US" dirty="0"/>
              <a:t>: URL /</a:t>
            </a:r>
            <a:r>
              <a:rPr lang="en-US" dirty="0" err="1"/>
              <a:t>san-pham</a:t>
            </a:r>
            <a:r>
              <a:rPr lang="en-US" dirty="0"/>
              <a:t>/https://res.cloudinary.com/... (</a:t>
            </a:r>
            <a:r>
              <a:rPr lang="en-US" dirty="0" err="1"/>
              <a:t>có</a:t>
            </a:r>
            <a:r>
              <a:rPr lang="en-US" dirty="0"/>
              <a:t> </a:t>
            </a:r>
            <a:r>
              <a:rPr lang="en-US" dirty="0" err="1"/>
              <a:t>lẽ</a:t>
            </a:r>
            <a:r>
              <a:rPr lang="en-US" dirty="0"/>
              <a:t> </a:t>
            </a:r>
            <a:r>
              <a:rPr lang="en-US" dirty="0" err="1"/>
              <a:t>là</a:t>
            </a:r>
            <a:r>
              <a:rPr lang="en-US" dirty="0"/>
              <a:t> dynamic route [slug] </a:t>
            </a:r>
            <a:r>
              <a:rPr lang="en-US" dirty="0" err="1"/>
              <a:t>hoặc</a:t>
            </a:r>
            <a:r>
              <a:rPr lang="en-US" dirty="0"/>
              <a:t> catch-all, </a:t>
            </a:r>
            <a:r>
              <a:rPr lang="en-US" dirty="0" err="1"/>
              <a:t>nhưng</a:t>
            </a:r>
            <a:r>
              <a:rPr lang="en-US" dirty="0"/>
              <a:t> param </a:t>
            </a:r>
            <a:r>
              <a:rPr lang="en-US" dirty="0" err="1"/>
              <a:t>bị</a:t>
            </a:r>
            <a:r>
              <a:rPr lang="en-US" dirty="0"/>
              <a:t> encode </a:t>
            </a:r>
            <a:r>
              <a:rPr lang="en-US" dirty="0" err="1"/>
              <a:t>sai</a:t>
            </a:r>
            <a:r>
              <a:rPr lang="en-US" dirty="0"/>
              <a:t> → </a:t>
            </a:r>
            <a:r>
              <a:rPr lang="en-US" dirty="0" err="1"/>
              <a:t>Cloudinary</a:t>
            </a:r>
            <a:r>
              <a:rPr lang="en-US" dirty="0"/>
              <a:t> URL </a:t>
            </a:r>
            <a:r>
              <a:rPr lang="en-US" dirty="0" err="1"/>
              <a:t>bị</a:t>
            </a:r>
            <a:r>
              <a:rPr lang="en-US" dirty="0"/>
              <a:t> treat </a:t>
            </a:r>
            <a:r>
              <a:rPr lang="en-US" dirty="0" err="1"/>
              <a:t>như</a:t>
            </a:r>
            <a:r>
              <a:rPr lang="en-US" dirty="0"/>
              <a:t> path → </a:t>
            </a:r>
            <a:r>
              <a:rPr lang="en-US" dirty="0" err="1"/>
              <a:t>gây</a:t>
            </a:r>
            <a:r>
              <a:rPr lang="en-US" dirty="0"/>
              <a:t> exception </a:t>
            </a:r>
            <a:r>
              <a:rPr lang="en-US" dirty="0" err="1"/>
              <a:t>khi</a:t>
            </a:r>
            <a:r>
              <a:rPr lang="en-US" dirty="0"/>
              <a:t> render </a:t>
            </a:r>
            <a:r>
              <a:rPr lang="en-US" dirty="0" err="1"/>
              <a:t>hoặc</a:t>
            </a:r>
            <a:r>
              <a:rPr lang="en-US" dirty="0"/>
              <a:t> fetch image). </a:t>
            </a:r>
          </a:p>
          <a:p>
            <a:pPr lvl="0"/>
            <a:r>
              <a:rPr lang="en-US" dirty="0"/>
              <a:t>Next.js dev server </a:t>
            </a:r>
            <a:r>
              <a:rPr lang="en-US" dirty="0" err="1"/>
              <a:t>trả</a:t>
            </a:r>
            <a:r>
              <a:rPr lang="en-US" dirty="0"/>
              <a:t> 500 + full error HTML (</a:t>
            </a:r>
            <a:r>
              <a:rPr lang="en-US" dirty="0" err="1"/>
              <a:t>thay</a:t>
            </a:r>
            <a:r>
              <a:rPr lang="en-US" dirty="0"/>
              <a:t> </a:t>
            </a:r>
            <a:r>
              <a:rPr lang="en-US" dirty="0" err="1"/>
              <a:t>vì</a:t>
            </a:r>
            <a:r>
              <a:rPr lang="en-US" dirty="0"/>
              <a:t> JSON </a:t>
            </a:r>
            <a:r>
              <a:rPr lang="en-US" dirty="0" err="1"/>
              <a:t>hoặc</a:t>
            </a:r>
            <a:r>
              <a:rPr lang="en-US" dirty="0"/>
              <a:t> generic message). </a:t>
            </a:r>
          </a:p>
          <a:p>
            <a:pPr lvl="0"/>
            <a:r>
              <a:rPr lang="en-US" dirty="0"/>
              <a:t>ZAP detect string </a:t>
            </a:r>
            <a:r>
              <a:rPr lang="en-US" dirty="0" err="1"/>
              <a:t>lỗi</a:t>
            </a:r>
            <a:r>
              <a:rPr lang="en-US" dirty="0"/>
              <a:t> </a:t>
            </a:r>
            <a:r>
              <a:rPr lang="en-US" dirty="0" err="1"/>
              <a:t>trong</a:t>
            </a:r>
            <a:r>
              <a:rPr lang="en-US" dirty="0"/>
              <a:t> body → raise </a:t>
            </a:r>
            <a:r>
              <a:rPr lang="en-US" dirty="0" err="1"/>
              <a:t>alert.Kết</a:t>
            </a:r>
            <a:r>
              <a:rPr lang="en-US" dirty="0"/>
              <a:t> </a:t>
            </a:r>
            <a:r>
              <a:rPr lang="en-US" dirty="0" err="1"/>
              <a:t>quả</a:t>
            </a:r>
            <a:r>
              <a:rPr lang="en-US" dirty="0"/>
              <a:t>:</a:t>
            </a:r>
          </a:p>
          <a:p>
            <a:pPr lvl="0"/>
            <a:r>
              <a:rPr lang="en-US" dirty="0"/>
              <a:t>Next.js dev server (next dev) </a:t>
            </a:r>
            <a:r>
              <a:rPr lang="en-US" dirty="0" err="1"/>
              <a:t>không</a:t>
            </a:r>
            <a:r>
              <a:rPr lang="en-US" dirty="0"/>
              <a:t> </a:t>
            </a:r>
            <a:r>
              <a:rPr lang="en-US" dirty="0" err="1"/>
              <a:t>tự</a:t>
            </a:r>
            <a:r>
              <a:rPr lang="en-US" dirty="0"/>
              <a:t> </a:t>
            </a:r>
            <a:r>
              <a:rPr lang="en-US" dirty="0" err="1"/>
              <a:t>động</a:t>
            </a:r>
            <a:r>
              <a:rPr lang="en-US" dirty="0"/>
              <a:t> </a:t>
            </a:r>
            <a:r>
              <a:rPr lang="en-US" dirty="0" err="1"/>
              <a:t>thêm</a:t>
            </a:r>
            <a:r>
              <a:rPr lang="en-US" dirty="0"/>
              <a:t> </a:t>
            </a:r>
            <a:r>
              <a:rPr lang="en-US" dirty="0" err="1"/>
              <a:t>các</a:t>
            </a:r>
            <a:r>
              <a:rPr lang="en-US" dirty="0"/>
              <a:t> security header </a:t>
            </a:r>
            <a:r>
              <a:rPr lang="en-US" dirty="0" err="1"/>
              <a:t>như</a:t>
            </a:r>
            <a:r>
              <a:rPr lang="en-US" dirty="0"/>
              <a:t> X-Frame-Options </a:t>
            </a:r>
            <a:r>
              <a:rPr lang="en-US" dirty="0" err="1"/>
              <a:t>hoặc</a:t>
            </a:r>
            <a:r>
              <a:rPr lang="en-US" dirty="0"/>
              <a:t> CSP frame-ancestors (</a:t>
            </a:r>
            <a:r>
              <a:rPr lang="en-US" dirty="0" err="1"/>
              <a:t>để</a:t>
            </a:r>
            <a:r>
              <a:rPr lang="en-US" dirty="0"/>
              <a:t> </a:t>
            </a:r>
            <a:r>
              <a:rPr lang="en-US" dirty="0" err="1"/>
              <a:t>tiện</a:t>
            </a:r>
            <a:r>
              <a:rPr lang="en-US" dirty="0"/>
              <a:t> debug </a:t>
            </a:r>
            <a:r>
              <a:rPr lang="en-US" dirty="0" err="1"/>
              <a:t>và</a:t>
            </a:r>
            <a:r>
              <a:rPr lang="en-US" dirty="0"/>
              <a:t> </a:t>
            </a:r>
            <a:r>
              <a:rPr lang="en-US" dirty="0" err="1"/>
              <a:t>phát</a:t>
            </a:r>
            <a:r>
              <a:rPr lang="en-US" dirty="0"/>
              <a:t> </a:t>
            </a:r>
            <a:r>
              <a:rPr lang="en-US" dirty="0" err="1"/>
              <a:t>triển</a:t>
            </a:r>
            <a:r>
              <a:rPr lang="en-US" dirty="0"/>
              <a:t>). </a:t>
            </a:r>
          </a:p>
          <a:p>
            <a:pPr lvl="0"/>
            <a:r>
              <a:rPr lang="en-US" dirty="0"/>
              <a:t>Trong production (next build + next start, </a:t>
            </a:r>
            <a:r>
              <a:rPr lang="en-US" dirty="0" err="1"/>
              <a:t>hoặc</a:t>
            </a:r>
            <a:r>
              <a:rPr lang="en-US" dirty="0"/>
              <a:t> deploy </a:t>
            </a:r>
            <a:r>
              <a:rPr lang="en-US" dirty="0" err="1"/>
              <a:t>Vercel</a:t>
            </a:r>
            <a:r>
              <a:rPr lang="en-US" dirty="0"/>
              <a:t>/Netlify), Next.js </a:t>
            </a:r>
            <a:r>
              <a:rPr lang="en-US" dirty="0" err="1"/>
              <a:t>cũng</a:t>
            </a:r>
            <a:r>
              <a:rPr lang="en-US" dirty="0"/>
              <a:t> </a:t>
            </a:r>
            <a:r>
              <a:rPr lang="en-US" dirty="0" err="1"/>
              <a:t>không</a:t>
            </a:r>
            <a:r>
              <a:rPr lang="en-US" dirty="0"/>
              <a:t> </a:t>
            </a:r>
            <a:r>
              <a:rPr lang="en-US" dirty="0" err="1"/>
              <a:t>thêm</a:t>
            </a:r>
            <a:r>
              <a:rPr lang="en-US" dirty="0"/>
              <a:t> </a:t>
            </a:r>
            <a:r>
              <a:rPr lang="en-US" dirty="0" err="1"/>
              <a:t>mặc</a:t>
            </a:r>
            <a:r>
              <a:rPr lang="en-US" dirty="0"/>
              <a:t> </a:t>
            </a:r>
            <a:r>
              <a:rPr lang="en-US" dirty="0" err="1"/>
              <a:t>định</a:t>
            </a:r>
            <a:r>
              <a:rPr lang="en-US" dirty="0"/>
              <a:t> </a:t>
            </a:r>
            <a:r>
              <a:rPr lang="en-US" dirty="0" err="1"/>
              <a:t>các</a:t>
            </a:r>
            <a:r>
              <a:rPr lang="en-US" dirty="0"/>
              <a:t> header </a:t>
            </a:r>
            <a:r>
              <a:rPr lang="en-US" dirty="0" err="1"/>
              <a:t>này</a:t>
            </a:r>
            <a:r>
              <a:rPr lang="en-US" dirty="0"/>
              <a:t> → </a:t>
            </a:r>
            <a:r>
              <a:rPr lang="en-US" dirty="0" err="1"/>
              <a:t>bạn</a:t>
            </a:r>
            <a:r>
              <a:rPr lang="en-US" dirty="0"/>
              <a:t> </a:t>
            </a:r>
            <a:r>
              <a:rPr lang="en-US" dirty="0" err="1"/>
              <a:t>phải</a:t>
            </a:r>
            <a:r>
              <a:rPr lang="en-US" dirty="0"/>
              <a:t> config </a:t>
            </a:r>
            <a:r>
              <a:rPr lang="en-US" dirty="0" err="1"/>
              <a:t>thủ</a:t>
            </a:r>
            <a:r>
              <a:rPr lang="en-US" dirty="0"/>
              <a:t> </a:t>
            </a:r>
            <a:r>
              <a:rPr lang="en-US" dirty="0" err="1"/>
              <a:t>công</a:t>
            </a:r>
            <a:r>
              <a:rPr lang="en-US" dirty="0"/>
              <a:t>..</a:t>
            </a:r>
          </a:p>
          <a:p>
            <a:r>
              <a:rPr lang="en-US" dirty="0" err="1"/>
              <a:t>Kết</a:t>
            </a:r>
            <a:r>
              <a:rPr lang="en-US" dirty="0"/>
              <a:t> </a:t>
            </a:r>
            <a:r>
              <a:rPr lang="en-US" dirty="0" err="1"/>
              <a:t>quả</a:t>
            </a:r>
            <a:r>
              <a:rPr lang="en-US" dirty="0"/>
              <a:t>:</a:t>
            </a:r>
          </a:p>
          <a:p>
            <a:pPr lvl="0"/>
            <a:r>
              <a:rPr lang="en-US" dirty="0"/>
              <a:t>Next.js </a:t>
            </a:r>
            <a:r>
              <a:rPr lang="en-US" dirty="0" err="1"/>
              <a:t>tự</a:t>
            </a:r>
            <a:r>
              <a:rPr lang="en-US" dirty="0"/>
              <a:t> </a:t>
            </a:r>
            <a:r>
              <a:rPr lang="en-US" dirty="0" err="1"/>
              <a:t>động</a:t>
            </a:r>
            <a:r>
              <a:rPr lang="en-US" dirty="0"/>
              <a:t> hide chi </a:t>
            </a:r>
            <a:r>
              <a:rPr lang="en-US" dirty="0" err="1"/>
              <a:t>tiết</a:t>
            </a:r>
            <a:r>
              <a:rPr lang="en-US" dirty="0"/>
              <a:t> </a:t>
            </a:r>
            <a:r>
              <a:rPr lang="en-US" dirty="0" err="1"/>
              <a:t>lỗi</a:t>
            </a:r>
            <a:r>
              <a:rPr lang="en-US" dirty="0"/>
              <a:t> (</a:t>
            </a:r>
            <a:r>
              <a:rPr lang="en-US" dirty="0" err="1"/>
              <a:t>chỉ</a:t>
            </a:r>
            <a:r>
              <a:rPr lang="en-US" dirty="0"/>
              <a:t> show generic "Internal Server Error" </a:t>
            </a:r>
            <a:r>
              <a:rPr lang="en-US" dirty="0" err="1"/>
              <a:t>hoặc</a:t>
            </a:r>
            <a:r>
              <a:rPr lang="en-US" dirty="0"/>
              <a:t> custom error page). </a:t>
            </a:r>
          </a:p>
          <a:p>
            <a:pPr lvl="0"/>
            <a:r>
              <a:rPr lang="en-US" dirty="0" err="1"/>
              <a:t>Không</a:t>
            </a:r>
            <a:r>
              <a:rPr lang="en-US" dirty="0"/>
              <a:t> </a:t>
            </a:r>
            <a:r>
              <a:rPr lang="en-US" dirty="0" err="1"/>
              <a:t>lộ</a:t>
            </a:r>
            <a:r>
              <a:rPr lang="en-US" dirty="0"/>
              <a:t> stack trace/file path → alert </a:t>
            </a:r>
            <a:r>
              <a:rPr lang="en-US" dirty="0" err="1"/>
              <a:t>này</a:t>
            </a:r>
            <a:r>
              <a:rPr lang="en-US" dirty="0"/>
              <a:t> </a:t>
            </a:r>
            <a:r>
              <a:rPr lang="en-US" dirty="0" err="1"/>
              <a:t>thường</a:t>
            </a:r>
            <a:r>
              <a:rPr lang="en-US" dirty="0"/>
              <a:t> </a:t>
            </a:r>
            <a:r>
              <a:rPr lang="en-US" dirty="0" err="1"/>
              <a:t>biến</a:t>
            </a:r>
            <a:r>
              <a:rPr lang="en-US" dirty="0"/>
              <a:t> </a:t>
            </a:r>
            <a:r>
              <a:rPr lang="en-US" dirty="0" err="1"/>
              <a:t>mất</a:t>
            </a:r>
            <a:r>
              <a:rPr lang="en-US" dirty="0"/>
              <a:t> </a:t>
            </a:r>
            <a:r>
              <a:rPr lang="en-US" dirty="0" err="1"/>
              <a:t>hoặc</a:t>
            </a:r>
            <a:r>
              <a:rPr lang="en-US" dirty="0"/>
              <a:t> </a:t>
            </a:r>
            <a:r>
              <a:rPr lang="en-US" dirty="0" err="1"/>
              <a:t>thành</a:t>
            </a:r>
            <a:r>
              <a:rPr lang="en-US" dirty="0"/>
              <a:t> false positive.</a:t>
            </a:r>
          </a:p>
        </p:txBody>
      </p:sp>
      <p:pic>
        <p:nvPicPr>
          <p:cNvPr id="5" name="Chỗ dành sẵn cho Nội dung 4" descr="Ảnh có chứa văn bản, ảnh chụp màn hình, phần mềm, Biểu tượng máy tính&#10;&#10;Nội dung do AI tạo ra có thể không chính xác.">
            <a:extLst>
              <a:ext uri="{FF2B5EF4-FFF2-40B4-BE49-F238E27FC236}">
                <a16:creationId xmlns:a16="http://schemas.microsoft.com/office/drawing/2014/main" id="{B5926990-75E0-C3DC-3DDE-8CE14907B7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7301" y="1026433"/>
            <a:ext cx="10357394" cy="5831567"/>
          </a:xfrm>
          <a:prstGeom prst="rect">
            <a:avLst/>
          </a:prstGeom>
        </p:spPr>
      </p:pic>
    </p:spTree>
    <p:extLst>
      <p:ext uri="{BB962C8B-B14F-4D97-AF65-F5344CB8AC3E}">
        <p14:creationId xmlns:p14="http://schemas.microsoft.com/office/powerpoint/2010/main" val="147185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51113"/>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653143"/>
            <a:ext cx="12191999" cy="620485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6.4.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a:t>
            </a:r>
          </a:p>
          <a:p>
            <a:r>
              <a:rPr lang="en-US" dirty="0" err="1"/>
              <a:t>Tên</a:t>
            </a:r>
            <a:r>
              <a:rPr lang="en-US" dirty="0"/>
              <a:t> </a:t>
            </a:r>
            <a:r>
              <a:rPr lang="en-US" dirty="0" err="1"/>
              <a:t>cảnh</a:t>
            </a:r>
            <a:r>
              <a:rPr lang="en-US" dirty="0"/>
              <a:t> </a:t>
            </a:r>
            <a:r>
              <a:rPr lang="en-US" dirty="0" err="1"/>
              <a:t>báo</a:t>
            </a:r>
            <a:r>
              <a:rPr lang="en-US" dirty="0"/>
              <a:t>: X-Powered-By header HTTP Response(</a:t>
            </a:r>
            <a:r>
              <a:rPr lang="en-US" b="1" dirty="0" err="1"/>
              <a:t>Phản</a:t>
            </a:r>
            <a:r>
              <a:rPr lang="en-US" b="1" dirty="0"/>
              <a:t> </a:t>
            </a:r>
            <a:r>
              <a:rPr lang="en-US" b="1" dirty="0" err="1"/>
              <a:t>hồi</a:t>
            </a:r>
            <a:r>
              <a:rPr lang="en-US" b="1" dirty="0"/>
              <a:t> HTTP </a:t>
            </a:r>
            <a:r>
              <a:rPr lang="en-US" b="1" dirty="0" err="1"/>
              <a:t>tiêu</a:t>
            </a:r>
            <a:r>
              <a:rPr lang="en-US" b="1" dirty="0"/>
              <a:t> </a:t>
            </a:r>
            <a:r>
              <a:rPr lang="en-US" b="1" dirty="0" err="1"/>
              <a:t>đề</a:t>
            </a:r>
            <a:r>
              <a:rPr lang="en-US" b="1" dirty="0"/>
              <a:t> X-Powered-By</a:t>
            </a:r>
            <a:r>
              <a:rPr lang="en-US" dirty="0"/>
              <a:t>)</a:t>
            </a:r>
          </a:p>
          <a:p>
            <a:r>
              <a:rPr lang="en-US" dirty="0" err="1"/>
              <a:t>Mức</a:t>
            </a:r>
            <a:r>
              <a:rPr lang="en-US" dirty="0"/>
              <a:t> </a:t>
            </a:r>
            <a:r>
              <a:rPr lang="en-US" dirty="0" err="1"/>
              <a:t>cảnh</a:t>
            </a:r>
            <a:r>
              <a:rPr lang="en-US" dirty="0"/>
              <a:t> </a:t>
            </a:r>
            <a:r>
              <a:rPr lang="en-US" dirty="0" err="1"/>
              <a:t>báo</a:t>
            </a:r>
            <a:r>
              <a:rPr lang="en-US" dirty="0"/>
              <a:t>: </a:t>
            </a:r>
            <a:r>
              <a:rPr lang="en-US" dirty="0" err="1"/>
              <a:t>Thấp</a:t>
            </a:r>
            <a:endParaRPr lang="en-US" dirty="0"/>
          </a:p>
          <a:p>
            <a:r>
              <a:rPr lang="en-US" dirty="0" err="1"/>
              <a:t>Nội</a:t>
            </a:r>
            <a:r>
              <a:rPr lang="en-US" dirty="0"/>
              <a:t> dung:</a:t>
            </a:r>
          </a:p>
          <a:p>
            <a:pPr lvl="0"/>
            <a:r>
              <a:rPr lang="en-US" dirty="0"/>
              <a:t>Next.js dev mode (next dev) </a:t>
            </a:r>
            <a:r>
              <a:rPr lang="en-US" dirty="0" err="1"/>
              <a:t>và</a:t>
            </a:r>
            <a:r>
              <a:rPr lang="en-US" dirty="0"/>
              <a:t> production </a:t>
            </a:r>
            <a:r>
              <a:rPr lang="en-US" dirty="0" err="1"/>
              <a:t>đều</a:t>
            </a:r>
            <a:r>
              <a:rPr lang="en-US" dirty="0"/>
              <a:t> </a:t>
            </a:r>
            <a:r>
              <a:rPr lang="en-US" dirty="0" err="1"/>
              <a:t>thêm</a:t>
            </a:r>
            <a:r>
              <a:rPr lang="en-US" dirty="0"/>
              <a:t> header </a:t>
            </a:r>
            <a:r>
              <a:rPr lang="en-US" dirty="0" err="1"/>
              <a:t>này</a:t>
            </a:r>
            <a:r>
              <a:rPr lang="en-US" dirty="0"/>
              <a:t> </a:t>
            </a:r>
            <a:r>
              <a:rPr lang="en-US" dirty="0" err="1"/>
              <a:t>mặc</a:t>
            </a:r>
            <a:r>
              <a:rPr lang="en-US" dirty="0"/>
              <a:t> </a:t>
            </a:r>
            <a:r>
              <a:rPr lang="en-US" dirty="0" err="1"/>
              <a:t>định</a:t>
            </a:r>
            <a:r>
              <a:rPr lang="en-US" dirty="0"/>
              <a:t> (</a:t>
            </a:r>
            <a:r>
              <a:rPr lang="en-US" dirty="0" err="1"/>
              <a:t>từ</a:t>
            </a:r>
            <a:r>
              <a:rPr lang="en-US" dirty="0"/>
              <a:t> </a:t>
            </a:r>
            <a:r>
              <a:rPr lang="en-US" dirty="0" err="1"/>
              <a:t>phiên</a:t>
            </a:r>
            <a:r>
              <a:rPr lang="en-US" dirty="0"/>
              <a:t> </a:t>
            </a:r>
            <a:r>
              <a:rPr lang="en-US" dirty="0" err="1"/>
              <a:t>bản</a:t>
            </a:r>
            <a:r>
              <a:rPr lang="en-US" dirty="0"/>
              <a:t> </a:t>
            </a:r>
            <a:r>
              <a:rPr lang="en-US" dirty="0" err="1"/>
              <a:t>cũ</a:t>
            </a:r>
            <a:r>
              <a:rPr lang="en-US" dirty="0"/>
              <a:t> </a:t>
            </a:r>
            <a:r>
              <a:rPr lang="en-US" dirty="0" err="1"/>
              <a:t>đến</a:t>
            </a:r>
            <a:r>
              <a:rPr lang="en-US" dirty="0"/>
              <a:t> </a:t>
            </a:r>
            <a:r>
              <a:rPr lang="en-US" dirty="0" err="1"/>
              <a:t>mới</a:t>
            </a:r>
            <a:r>
              <a:rPr lang="en-US" dirty="0"/>
              <a:t> </a:t>
            </a:r>
            <a:r>
              <a:rPr lang="en-US" dirty="0" err="1"/>
              <a:t>nhất</a:t>
            </a:r>
            <a:r>
              <a:rPr lang="en-US" dirty="0"/>
              <a:t> ~16.x). </a:t>
            </a:r>
          </a:p>
          <a:p>
            <a:pPr lvl="0"/>
            <a:r>
              <a:rPr lang="en-US" dirty="0" err="1"/>
              <a:t>Không</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môi</a:t>
            </a:r>
            <a:r>
              <a:rPr lang="en-US" dirty="0"/>
              <a:t> </a:t>
            </a:r>
            <a:r>
              <a:rPr lang="en-US" dirty="0" err="1"/>
              <a:t>trường</a:t>
            </a:r>
            <a:r>
              <a:rPr lang="en-US" dirty="0"/>
              <a:t> → </a:t>
            </a:r>
            <a:r>
              <a:rPr lang="en-US" dirty="0" err="1"/>
              <a:t>bạn</a:t>
            </a:r>
            <a:r>
              <a:rPr lang="en-US" dirty="0"/>
              <a:t> </a:t>
            </a:r>
            <a:r>
              <a:rPr lang="en-US" dirty="0" err="1"/>
              <a:t>thấy</a:t>
            </a:r>
            <a:r>
              <a:rPr lang="en-US" dirty="0"/>
              <a:t> </a:t>
            </a:r>
            <a:r>
              <a:rPr lang="en-US" dirty="0" err="1"/>
              <a:t>ngay</a:t>
            </a:r>
            <a:r>
              <a:rPr lang="en-US" dirty="0"/>
              <a:t> </a:t>
            </a:r>
            <a:r>
              <a:rPr lang="en-US" dirty="0" err="1"/>
              <a:t>cả</a:t>
            </a:r>
            <a:r>
              <a:rPr lang="en-US" dirty="0"/>
              <a:t> </a:t>
            </a:r>
            <a:r>
              <a:rPr lang="en-US" dirty="0" err="1"/>
              <a:t>khi</a:t>
            </a:r>
            <a:r>
              <a:rPr lang="en-US" dirty="0"/>
              <a:t> </a:t>
            </a:r>
            <a:r>
              <a:rPr lang="en-US" dirty="0" err="1"/>
              <a:t>chạy</a:t>
            </a:r>
            <a:r>
              <a:rPr lang="en-US" dirty="0"/>
              <a:t> next start.</a:t>
            </a:r>
          </a:p>
          <a:p>
            <a:r>
              <a:rPr lang="en-US" dirty="0" err="1"/>
              <a:t>Khuyến</a:t>
            </a:r>
            <a:r>
              <a:rPr lang="en-US" dirty="0"/>
              <a:t> </a:t>
            </a:r>
            <a:r>
              <a:rPr lang="en-US" dirty="0" err="1"/>
              <a:t>nghị</a:t>
            </a:r>
            <a:r>
              <a:rPr lang="en-US" dirty="0"/>
              <a:t>: </a:t>
            </a:r>
          </a:p>
          <a:p>
            <a:pPr lvl="0"/>
            <a:r>
              <a:rPr lang="en-US" dirty="0" err="1"/>
              <a:t>poweredByHeader</a:t>
            </a:r>
            <a:r>
              <a:rPr lang="en-US" dirty="0"/>
              <a:t>: false → </a:t>
            </a:r>
            <a:r>
              <a:rPr lang="en-US" dirty="0" err="1"/>
              <a:t>tắt</a:t>
            </a:r>
            <a:r>
              <a:rPr lang="en-US" dirty="0"/>
              <a:t> </a:t>
            </a:r>
            <a:r>
              <a:rPr lang="en-US" dirty="0" err="1"/>
              <a:t>hoàn</a:t>
            </a:r>
            <a:r>
              <a:rPr lang="en-US" dirty="0"/>
              <a:t> </a:t>
            </a:r>
            <a:r>
              <a:rPr lang="en-US" dirty="0" err="1"/>
              <a:t>toàn</a:t>
            </a:r>
            <a:r>
              <a:rPr lang="en-US" dirty="0"/>
              <a:t> header X-Powered-By.</a:t>
            </a:r>
          </a:p>
        </p:txBody>
      </p:sp>
      <p:pic>
        <p:nvPicPr>
          <p:cNvPr id="4" name="Chỗ dành sẵn cho Nội dung 4" descr="Ảnh có chứa văn bản, ảnh chụp màn hình, phần mềm, Biểu tượng máy tính&#10;&#10;Nội dung do AI tạo ra có thể không chính xác.">
            <a:extLst>
              <a:ext uri="{FF2B5EF4-FFF2-40B4-BE49-F238E27FC236}">
                <a16:creationId xmlns:a16="http://schemas.microsoft.com/office/drawing/2014/main" id="{18E084C9-FC8A-0EBD-9312-1E0E72D713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6541" y="1160645"/>
            <a:ext cx="10075051" cy="5697355"/>
          </a:xfrm>
          <a:prstGeom prst="rect">
            <a:avLst/>
          </a:prstGeom>
        </p:spPr>
      </p:pic>
    </p:spTree>
    <p:extLst>
      <p:ext uri="{BB962C8B-B14F-4D97-AF65-F5344CB8AC3E}">
        <p14:creationId xmlns:p14="http://schemas.microsoft.com/office/powerpoint/2010/main" val="419953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51113"/>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653143"/>
            <a:ext cx="12191999" cy="6204856"/>
          </a:xfrm>
        </p:spPr>
        <p:txBody>
          <a:bodyPr>
            <a:normAutofit fontScale="85000" lnSpcReduction="20000"/>
          </a:bodyPr>
          <a:lstStyle/>
          <a:p>
            <a:pPr marL="0" indent="0">
              <a:buNone/>
            </a:pPr>
            <a:r>
              <a:rPr lang="en-US" b="1" dirty="0">
                <a:latin typeface="Times New Roman" panose="02020603050405020304" pitchFamily="18" charset="0"/>
                <a:cs typeface="Times New Roman" panose="02020603050405020304" pitchFamily="18" charset="0"/>
              </a:rPr>
              <a:t>6.4.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a:t>
            </a:r>
          </a:p>
          <a:p>
            <a:r>
              <a:rPr lang="en-US" dirty="0" err="1"/>
              <a:t>Tên</a:t>
            </a:r>
            <a:r>
              <a:rPr lang="en-US" dirty="0"/>
              <a:t> </a:t>
            </a:r>
            <a:r>
              <a:rPr lang="en-US" dirty="0" err="1"/>
              <a:t>cảnh</a:t>
            </a:r>
            <a:r>
              <a:rPr lang="en-US" dirty="0"/>
              <a:t> </a:t>
            </a:r>
            <a:r>
              <a:rPr lang="en-US" dirty="0" err="1"/>
              <a:t>báo</a:t>
            </a:r>
            <a:r>
              <a:rPr lang="en-US" dirty="0"/>
              <a:t>: Timestamp Disclosure – Unix(</a:t>
            </a:r>
            <a:r>
              <a:rPr lang="en-US" b="1" dirty="0" err="1"/>
              <a:t>Tiết</a:t>
            </a:r>
            <a:r>
              <a:rPr lang="en-US" b="1" dirty="0"/>
              <a:t> </a:t>
            </a:r>
            <a:r>
              <a:rPr lang="en-US" b="1" dirty="0" err="1"/>
              <a:t>lộ</a:t>
            </a:r>
            <a:r>
              <a:rPr lang="en-US" b="1" dirty="0"/>
              <a:t> </a:t>
            </a:r>
            <a:r>
              <a:rPr lang="en-US" b="1" dirty="0" err="1"/>
              <a:t>dấu</a:t>
            </a:r>
            <a:r>
              <a:rPr lang="en-US" b="1" dirty="0"/>
              <a:t> </a:t>
            </a:r>
            <a:r>
              <a:rPr lang="en-US" b="1" dirty="0" err="1"/>
              <a:t>thời</a:t>
            </a:r>
            <a:r>
              <a:rPr lang="en-US" b="1" dirty="0"/>
              <a:t> </a:t>
            </a:r>
            <a:r>
              <a:rPr lang="en-US" b="1" dirty="0" err="1"/>
              <a:t>gian</a:t>
            </a:r>
            <a:r>
              <a:rPr lang="en-US" b="1" dirty="0"/>
              <a:t> - Unix</a:t>
            </a:r>
            <a:r>
              <a:rPr lang="en-US" dirty="0"/>
              <a:t>)</a:t>
            </a:r>
          </a:p>
          <a:p>
            <a:r>
              <a:rPr lang="en-US" dirty="0" err="1"/>
              <a:t>Mức</a:t>
            </a:r>
            <a:r>
              <a:rPr lang="en-US" dirty="0"/>
              <a:t> </a:t>
            </a:r>
            <a:r>
              <a:rPr lang="en-US" dirty="0" err="1"/>
              <a:t>cảnh</a:t>
            </a:r>
            <a:r>
              <a:rPr lang="en-US" dirty="0"/>
              <a:t> </a:t>
            </a:r>
            <a:r>
              <a:rPr lang="en-US" dirty="0" err="1"/>
              <a:t>báo</a:t>
            </a:r>
            <a:r>
              <a:rPr lang="en-US" dirty="0"/>
              <a:t>: </a:t>
            </a:r>
            <a:r>
              <a:rPr lang="en-US" dirty="0" err="1"/>
              <a:t>Thấp</a:t>
            </a:r>
            <a:endParaRPr lang="en-US" dirty="0"/>
          </a:p>
          <a:p>
            <a:r>
              <a:rPr lang="en-US" dirty="0" err="1"/>
              <a:t>Nội</a:t>
            </a:r>
            <a:r>
              <a:rPr lang="en-US" dirty="0"/>
              <a:t> dung:</a:t>
            </a:r>
          </a:p>
          <a:p>
            <a:pPr lvl="0"/>
            <a:r>
              <a:rPr lang="en-US" dirty="0" err="1"/>
              <a:t>Các</a:t>
            </a:r>
            <a:r>
              <a:rPr lang="en-US" dirty="0"/>
              <a:t> request </a:t>
            </a:r>
            <a:r>
              <a:rPr lang="en-US" dirty="0" err="1"/>
              <a:t>này</a:t>
            </a:r>
            <a:r>
              <a:rPr lang="en-US" dirty="0"/>
              <a:t> </a:t>
            </a:r>
            <a:r>
              <a:rPr lang="en-US" dirty="0" err="1"/>
              <a:t>gây</a:t>
            </a:r>
            <a:r>
              <a:rPr lang="en-US" dirty="0"/>
              <a:t> 500 Internal Server Error (</a:t>
            </a:r>
            <a:r>
              <a:rPr lang="en-US" dirty="0" err="1"/>
              <a:t>như</a:t>
            </a:r>
            <a:r>
              <a:rPr lang="en-US" dirty="0"/>
              <a:t> </a:t>
            </a:r>
            <a:r>
              <a:rPr lang="en-US" dirty="0" err="1"/>
              <a:t>ảnh</a:t>
            </a:r>
            <a:r>
              <a:rPr lang="en-US" dirty="0"/>
              <a:t> </a:t>
            </a:r>
            <a:r>
              <a:rPr lang="en-US" dirty="0" err="1"/>
              <a:t>trước</a:t>
            </a:r>
            <a:r>
              <a:rPr lang="en-US" dirty="0"/>
              <a:t>: Application Error Disclosure). </a:t>
            </a:r>
          </a:p>
          <a:p>
            <a:pPr lvl="0"/>
            <a:r>
              <a:rPr lang="en-US" dirty="0"/>
              <a:t>Trong dev mode (next dev), </a:t>
            </a:r>
            <a:r>
              <a:rPr lang="en-US" dirty="0" err="1"/>
              <a:t>trang</a:t>
            </a:r>
            <a:r>
              <a:rPr lang="en-US" dirty="0"/>
              <a:t> </a:t>
            </a:r>
            <a:r>
              <a:rPr lang="en-US" dirty="0" err="1"/>
              <a:t>lỗi</a:t>
            </a:r>
            <a:r>
              <a:rPr lang="en-US" dirty="0"/>
              <a:t> Next.js </a:t>
            </a:r>
            <a:r>
              <a:rPr lang="en-US" dirty="0" err="1"/>
              <a:t>lộ</a:t>
            </a:r>
            <a:r>
              <a:rPr lang="en-US" dirty="0"/>
              <a:t> </a:t>
            </a:r>
            <a:r>
              <a:rPr lang="en-US" dirty="0" err="1"/>
              <a:t>rất</a:t>
            </a:r>
            <a:r>
              <a:rPr lang="en-US" dirty="0"/>
              <a:t> </a:t>
            </a:r>
            <a:r>
              <a:rPr lang="en-US" dirty="0" err="1"/>
              <a:t>nhiều</a:t>
            </a:r>
            <a:r>
              <a:rPr lang="en-US" dirty="0"/>
              <a:t> </a:t>
            </a:r>
            <a:r>
              <a:rPr lang="en-US" dirty="0" err="1"/>
              <a:t>thông</a:t>
            </a:r>
            <a:r>
              <a:rPr lang="en-US" dirty="0"/>
              <a:t> tin:</a:t>
            </a:r>
          </a:p>
          <a:p>
            <a:pPr lvl="0"/>
            <a:r>
              <a:rPr lang="en-US" dirty="0"/>
              <a:t>Stack trace.</a:t>
            </a:r>
          </a:p>
          <a:p>
            <a:pPr lvl="0"/>
            <a:r>
              <a:rPr lang="en-US" dirty="0"/>
              <a:t>Digest/error ID (Next.js </a:t>
            </a:r>
            <a:r>
              <a:rPr lang="en-US" dirty="0" err="1"/>
              <a:t>dùng</a:t>
            </a:r>
            <a:r>
              <a:rPr lang="en-US" dirty="0"/>
              <a:t> digest </a:t>
            </a:r>
            <a:r>
              <a:rPr lang="en-US" dirty="0" err="1"/>
              <a:t>để</a:t>
            </a:r>
            <a:r>
              <a:rPr lang="en-US" dirty="0"/>
              <a:t> group </a:t>
            </a:r>
            <a:r>
              <a:rPr lang="en-US" dirty="0" err="1"/>
              <a:t>lỗi</a:t>
            </a:r>
            <a:r>
              <a:rPr lang="en-US" dirty="0"/>
              <a:t>).</a:t>
            </a:r>
          </a:p>
          <a:p>
            <a:pPr lvl="0"/>
            <a:r>
              <a:rPr lang="en-US" dirty="0" err="1"/>
              <a:t>Và</a:t>
            </a:r>
            <a:r>
              <a:rPr lang="en-US" dirty="0"/>
              <a:t> </a:t>
            </a:r>
            <a:r>
              <a:rPr lang="en-US" dirty="0" err="1"/>
              <a:t>đôi</a:t>
            </a:r>
            <a:r>
              <a:rPr lang="en-US" dirty="0"/>
              <a:t> </a:t>
            </a:r>
            <a:r>
              <a:rPr lang="en-US" dirty="0" err="1"/>
              <a:t>khi</a:t>
            </a:r>
            <a:r>
              <a:rPr lang="en-US" dirty="0"/>
              <a:t> timestamps (</a:t>
            </a:r>
            <a:r>
              <a:rPr lang="en-US" dirty="0" err="1"/>
              <a:t>thời</a:t>
            </a:r>
            <a:r>
              <a:rPr lang="en-US" dirty="0"/>
              <a:t> </a:t>
            </a:r>
            <a:r>
              <a:rPr lang="en-US" dirty="0" err="1"/>
              <a:t>gian</a:t>
            </a:r>
            <a:r>
              <a:rPr lang="en-US" dirty="0"/>
              <a:t> </a:t>
            </a:r>
            <a:r>
              <a:rPr lang="en-US" dirty="0" err="1"/>
              <a:t>xảy</a:t>
            </a:r>
            <a:r>
              <a:rPr lang="en-US" dirty="0"/>
              <a:t> </a:t>
            </a:r>
            <a:r>
              <a:rPr lang="en-US" dirty="0" err="1"/>
              <a:t>ra</a:t>
            </a:r>
            <a:r>
              <a:rPr lang="en-US" dirty="0"/>
              <a:t> </a:t>
            </a:r>
            <a:r>
              <a:rPr lang="en-US" dirty="0" err="1"/>
              <a:t>lỗi</a:t>
            </a:r>
            <a:r>
              <a:rPr lang="en-US" dirty="0"/>
              <a:t>, build time, </a:t>
            </a:r>
            <a:r>
              <a:rPr lang="en-US" dirty="0" err="1"/>
              <a:t>hoặc</a:t>
            </a:r>
            <a:r>
              <a:rPr lang="en-US" dirty="0"/>
              <a:t> internal values).</a:t>
            </a:r>
          </a:p>
          <a:p>
            <a:pPr lvl="0"/>
            <a:r>
              <a:rPr lang="en-US" dirty="0" err="1"/>
              <a:t>Cụ</a:t>
            </a:r>
            <a:r>
              <a:rPr lang="en-US" dirty="0"/>
              <a:t> </a:t>
            </a:r>
            <a:r>
              <a:rPr lang="en-US" dirty="0" err="1"/>
              <a:t>thể</a:t>
            </a:r>
            <a:r>
              <a:rPr lang="en-US" dirty="0"/>
              <a:t>: Con </a:t>
            </a:r>
            <a:r>
              <a:rPr lang="en-US" dirty="0" err="1"/>
              <a:t>số</a:t>
            </a:r>
            <a:r>
              <a:rPr lang="en-US" dirty="0"/>
              <a:t> 2062088316 </a:t>
            </a:r>
            <a:r>
              <a:rPr lang="en-US" dirty="0" err="1"/>
              <a:t>có</a:t>
            </a:r>
            <a:r>
              <a:rPr lang="en-US" dirty="0"/>
              <a:t> </a:t>
            </a:r>
            <a:r>
              <a:rPr lang="en-US" dirty="0" err="1"/>
              <a:t>thể</a:t>
            </a:r>
            <a:r>
              <a:rPr lang="en-US" dirty="0"/>
              <a:t> </a:t>
            </a:r>
            <a:r>
              <a:rPr lang="en-US" dirty="0" err="1"/>
              <a:t>là</a:t>
            </a:r>
            <a:r>
              <a:rPr lang="en-US" dirty="0"/>
              <a:t>:</a:t>
            </a:r>
          </a:p>
          <a:p>
            <a:pPr lvl="0"/>
            <a:r>
              <a:rPr lang="en-US" dirty="0" err="1"/>
              <a:t>Một</a:t>
            </a:r>
            <a:r>
              <a:rPr lang="en-US" dirty="0"/>
              <a:t> </a:t>
            </a:r>
            <a:r>
              <a:rPr lang="en-US" dirty="0" err="1"/>
              <a:t>phần</a:t>
            </a:r>
            <a:r>
              <a:rPr lang="en-US" dirty="0"/>
              <a:t> </a:t>
            </a:r>
            <a:r>
              <a:rPr lang="en-US" dirty="0" err="1"/>
              <a:t>của</a:t>
            </a:r>
            <a:r>
              <a:rPr lang="en-US" dirty="0"/>
              <a:t> digest/error hash (Next.js error pages </a:t>
            </a:r>
            <a:r>
              <a:rPr lang="en-US" dirty="0" err="1"/>
              <a:t>có</a:t>
            </a:r>
            <a:r>
              <a:rPr lang="en-US" dirty="0"/>
              <a:t> field </a:t>
            </a:r>
            <a:r>
              <a:rPr lang="en-US" dirty="0" err="1"/>
              <a:t>như</a:t>
            </a:r>
            <a:r>
              <a:rPr lang="en-US" dirty="0"/>
              <a:t> "digest": "...").</a:t>
            </a:r>
          </a:p>
          <a:p>
            <a:pPr lvl="0"/>
            <a:r>
              <a:rPr lang="en-US" dirty="0" err="1"/>
              <a:t>Hoặc</a:t>
            </a:r>
            <a:r>
              <a:rPr lang="en-US" dirty="0"/>
              <a:t> timestamp </a:t>
            </a:r>
            <a:r>
              <a:rPr lang="en-US" dirty="0" err="1"/>
              <a:t>trong</a:t>
            </a:r>
            <a:r>
              <a:rPr lang="en-US" dirty="0"/>
              <a:t> error object (</a:t>
            </a:r>
            <a:r>
              <a:rPr lang="en-US" dirty="0" err="1"/>
              <a:t>như</a:t>
            </a:r>
            <a:r>
              <a:rPr lang="en-US" dirty="0"/>
              <a:t> new Date().</a:t>
            </a:r>
            <a:r>
              <a:rPr lang="en-US" dirty="0" err="1"/>
              <a:t>getTime</a:t>
            </a:r>
            <a:r>
              <a:rPr lang="en-US" dirty="0"/>
              <a:t>() </a:t>
            </a:r>
            <a:r>
              <a:rPr lang="en-US" dirty="0" err="1"/>
              <a:t>trong</a:t>
            </a:r>
            <a:r>
              <a:rPr lang="en-US" dirty="0"/>
              <a:t> log </a:t>
            </a:r>
            <a:r>
              <a:rPr lang="en-US" dirty="0" err="1"/>
              <a:t>lỗi</a:t>
            </a:r>
            <a:r>
              <a:rPr lang="en-US" dirty="0"/>
              <a:t>).</a:t>
            </a:r>
          </a:p>
          <a:p>
            <a:pPr lvl="0"/>
            <a:r>
              <a:rPr lang="en-US" dirty="0" err="1"/>
              <a:t>Hoặc</a:t>
            </a:r>
            <a:r>
              <a:rPr lang="en-US" dirty="0"/>
              <a:t> </a:t>
            </a:r>
            <a:r>
              <a:rPr lang="en-US" dirty="0" err="1"/>
              <a:t>chỉ</a:t>
            </a:r>
            <a:r>
              <a:rPr lang="en-US" dirty="0"/>
              <a:t> </a:t>
            </a:r>
            <a:r>
              <a:rPr lang="en-US" dirty="0" err="1"/>
              <a:t>là</a:t>
            </a:r>
            <a:r>
              <a:rPr lang="en-US" dirty="0"/>
              <a:t> </a:t>
            </a:r>
            <a:r>
              <a:rPr lang="en-US" dirty="0" err="1"/>
              <a:t>một</a:t>
            </a:r>
            <a:r>
              <a:rPr lang="en-US" dirty="0"/>
              <a:t> </a:t>
            </a:r>
            <a:r>
              <a:rPr lang="en-US" dirty="0" err="1"/>
              <a:t>số</a:t>
            </a:r>
            <a:r>
              <a:rPr lang="en-US" dirty="0"/>
              <a:t> </a:t>
            </a:r>
            <a:r>
              <a:rPr lang="en-US" dirty="0" err="1"/>
              <a:t>lớn</a:t>
            </a:r>
            <a:r>
              <a:rPr lang="en-US" dirty="0"/>
              <a:t> </a:t>
            </a:r>
            <a:r>
              <a:rPr lang="en-US" dirty="0" err="1"/>
              <a:t>ngẫu</a:t>
            </a:r>
            <a:r>
              <a:rPr lang="en-US" dirty="0"/>
              <a:t> </a:t>
            </a:r>
            <a:r>
              <a:rPr lang="en-US" dirty="0" err="1"/>
              <a:t>nhiên</a:t>
            </a:r>
            <a:r>
              <a:rPr lang="en-US" dirty="0"/>
              <a:t> </a:t>
            </a:r>
            <a:r>
              <a:rPr lang="en-US" dirty="0" err="1"/>
              <a:t>trong</a:t>
            </a:r>
            <a:r>
              <a:rPr lang="en-US" dirty="0"/>
              <a:t> body (ZAP detect </a:t>
            </a:r>
            <a:r>
              <a:rPr lang="en-US" dirty="0" err="1"/>
              <a:t>nhầm</a:t>
            </a:r>
            <a:r>
              <a:rPr lang="en-US" dirty="0"/>
              <a:t>).</a:t>
            </a:r>
          </a:p>
          <a:p>
            <a:pPr lvl="0"/>
            <a:r>
              <a:rPr lang="en-US" dirty="0"/>
              <a:t> </a:t>
            </a:r>
            <a:r>
              <a:rPr lang="en-US" dirty="0" err="1"/>
              <a:t>Vì</a:t>
            </a:r>
            <a:r>
              <a:rPr lang="en-US" dirty="0"/>
              <a:t> </a:t>
            </a:r>
            <a:r>
              <a:rPr lang="en-US" dirty="0" err="1"/>
              <a:t>là</a:t>
            </a:r>
            <a:r>
              <a:rPr lang="en-US" dirty="0"/>
              <a:t> error page (text/html </a:t>
            </a:r>
            <a:r>
              <a:rPr lang="en-US" dirty="0" err="1"/>
              <a:t>với</a:t>
            </a:r>
            <a:r>
              <a:rPr lang="en-US" dirty="0"/>
              <a:t> full details), ZAP </a:t>
            </a:r>
            <a:r>
              <a:rPr lang="en-US" dirty="0" err="1"/>
              <a:t>quét</a:t>
            </a:r>
            <a:r>
              <a:rPr lang="en-US" dirty="0"/>
              <a:t> body </a:t>
            </a:r>
            <a:r>
              <a:rPr lang="en-US" dirty="0" err="1"/>
              <a:t>và</a:t>
            </a:r>
            <a:r>
              <a:rPr lang="en-US" dirty="0"/>
              <a:t> </a:t>
            </a:r>
            <a:r>
              <a:rPr lang="en-US" dirty="0" err="1"/>
              <a:t>thấy</a:t>
            </a:r>
            <a:r>
              <a:rPr lang="en-US" dirty="0"/>
              <a:t> </a:t>
            </a:r>
            <a:r>
              <a:rPr lang="en-US" dirty="0" err="1"/>
              <a:t>số</a:t>
            </a:r>
            <a:r>
              <a:rPr lang="en-US" dirty="0"/>
              <a:t> </a:t>
            </a:r>
            <a:r>
              <a:rPr lang="en-US" dirty="0" err="1"/>
              <a:t>lớn</a:t>
            </a:r>
            <a:r>
              <a:rPr lang="en-US" dirty="0"/>
              <a:t> → raise alert.</a:t>
            </a:r>
          </a:p>
          <a:p>
            <a:r>
              <a:rPr lang="en-US" dirty="0" err="1"/>
              <a:t>Khuyến</a:t>
            </a:r>
            <a:r>
              <a:rPr lang="en-US" dirty="0"/>
              <a:t> </a:t>
            </a:r>
            <a:r>
              <a:rPr lang="en-US" dirty="0" err="1"/>
              <a:t>nghị</a:t>
            </a:r>
            <a:r>
              <a:rPr lang="en-US" dirty="0"/>
              <a:t>: </a:t>
            </a:r>
          </a:p>
          <a:p>
            <a:r>
              <a:rPr lang="en-US" dirty="0" err="1"/>
              <a:t>Xác</a:t>
            </a:r>
            <a:r>
              <a:rPr lang="en-US" dirty="0"/>
              <a:t> </a:t>
            </a:r>
            <a:r>
              <a:rPr lang="en-US" dirty="0" err="1"/>
              <a:t>nhận</a:t>
            </a:r>
            <a:r>
              <a:rPr lang="en-US" dirty="0"/>
              <a:t> false positive </a:t>
            </a:r>
            <a:r>
              <a:rPr lang="en-US" dirty="0" err="1"/>
              <a:t>và</a:t>
            </a:r>
            <a:r>
              <a:rPr lang="en-US" dirty="0"/>
              <a:t> fix root cause, production config. </a:t>
            </a:r>
          </a:p>
        </p:txBody>
      </p:sp>
      <p:pic>
        <p:nvPicPr>
          <p:cNvPr id="5" name="Chỗ dành sẵn cho Nội dung 4" descr="Ảnh có chứa văn bản, ảnh chụp màn hình, phần mềm, Biểu tượng máy tính&#10;&#10;Nội dung do AI tạo ra có thể không chính xác.">
            <a:extLst>
              <a:ext uri="{FF2B5EF4-FFF2-40B4-BE49-F238E27FC236}">
                <a16:creationId xmlns:a16="http://schemas.microsoft.com/office/drawing/2014/main" id="{CAACB52A-59FA-542C-F56B-90FF7D3B90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1003" y="1028196"/>
            <a:ext cx="10249990" cy="5764489"/>
          </a:xfrm>
          <a:prstGeom prst="rect">
            <a:avLst/>
          </a:prstGeom>
        </p:spPr>
      </p:pic>
    </p:spTree>
    <p:extLst>
      <p:ext uri="{BB962C8B-B14F-4D97-AF65-F5344CB8AC3E}">
        <p14:creationId xmlns:p14="http://schemas.microsoft.com/office/powerpoint/2010/main" val="23738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751113"/>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653143"/>
            <a:ext cx="12191999" cy="620485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6.4. </a:t>
            </a:r>
            <a:r>
              <a:rPr lang="en-US" b="1" dirty="0" err="1">
                <a:latin typeface="Times New Roman" panose="02020603050405020304" pitchFamily="18" charset="0"/>
                <a:cs typeface="Times New Roman" panose="02020603050405020304" pitchFamily="18" charset="0"/>
              </a:rPr>
              <a:t>Kết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quả</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chạy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động</a:t>
            </a:r>
            <a:r>
              <a:rPr lang="en-US" b="1" dirty="0">
                <a:latin typeface="Times New Roman" panose="02020603050405020304" pitchFamily="18" charset="0"/>
                <a:cs typeface="Times New Roman" panose="02020603050405020304" pitchFamily="18" charset="0"/>
              </a:rPr>
              <a:t>:</a:t>
            </a:r>
          </a:p>
          <a:p>
            <a:r>
              <a:rPr lang="en-US" dirty="0" err="1"/>
              <a:t>Tên</a:t>
            </a:r>
            <a:r>
              <a:rPr lang="en-US" dirty="0"/>
              <a:t> </a:t>
            </a:r>
            <a:r>
              <a:rPr lang="en-US" dirty="0" err="1"/>
              <a:t>cảnh</a:t>
            </a:r>
            <a:r>
              <a:rPr lang="en-US" dirty="0"/>
              <a:t> </a:t>
            </a:r>
            <a:r>
              <a:rPr lang="en-US" dirty="0" err="1"/>
              <a:t>báo</a:t>
            </a:r>
            <a:r>
              <a:rPr lang="en-US" dirty="0"/>
              <a:t>: Information Disclosure - Suspicious Comments(</a:t>
            </a:r>
            <a:r>
              <a:rPr lang="en-US" b="1" dirty="0" err="1"/>
              <a:t>Công</a:t>
            </a:r>
            <a:r>
              <a:rPr lang="en-US" b="1" dirty="0"/>
              <a:t> </a:t>
            </a:r>
            <a:r>
              <a:rPr lang="en-US" b="1" dirty="0" err="1"/>
              <a:t>bố</a:t>
            </a:r>
            <a:r>
              <a:rPr lang="en-US" b="1" dirty="0"/>
              <a:t> </a:t>
            </a:r>
            <a:r>
              <a:rPr lang="en-US" b="1" dirty="0" err="1"/>
              <a:t>thông</a:t>
            </a:r>
            <a:r>
              <a:rPr lang="en-US" b="1" dirty="0"/>
              <a:t> tin - Bình </a:t>
            </a:r>
            <a:r>
              <a:rPr lang="en-US" b="1" dirty="0" err="1"/>
              <a:t>luận</a:t>
            </a:r>
            <a:r>
              <a:rPr lang="en-US" b="1" dirty="0"/>
              <a:t> </a:t>
            </a:r>
            <a:r>
              <a:rPr lang="en-US" b="1" dirty="0" err="1"/>
              <a:t>đáng</a:t>
            </a:r>
            <a:r>
              <a:rPr lang="en-US" b="1" dirty="0"/>
              <a:t> </a:t>
            </a:r>
            <a:r>
              <a:rPr lang="en-US" b="1" dirty="0" err="1"/>
              <a:t>ngờ</a:t>
            </a:r>
            <a:r>
              <a:rPr lang="en-US" dirty="0"/>
              <a:t>)</a:t>
            </a:r>
          </a:p>
          <a:p>
            <a:r>
              <a:rPr lang="en-US" dirty="0" err="1"/>
              <a:t>Mức</a:t>
            </a:r>
            <a:r>
              <a:rPr lang="en-US" dirty="0"/>
              <a:t> </a:t>
            </a:r>
            <a:r>
              <a:rPr lang="en-US" dirty="0" err="1"/>
              <a:t>cảnh</a:t>
            </a:r>
            <a:r>
              <a:rPr lang="en-US" dirty="0"/>
              <a:t> </a:t>
            </a:r>
            <a:r>
              <a:rPr lang="en-US" dirty="0" err="1"/>
              <a:t>báo</a:t>
            </a:r>
            <a:r>
              <a:rPr lang="en-US" dirty="0"/>
              <a:t>: Thông tin – </a:t>
            </a:r>
            <a:r>
              <a:rPr lang="en-US" dirty="0" err="1"/>
              <a:t>Rất</a:t>
            </a:r>
            <a:r>
              <a:rPr lang="en-US" dirty="0"/>
              <a:t> </a:t>
            </a:r>
            <a:r>
              <a:rPr lang="en-US" dirty="0" err="1"/>
              <a:t>thấp</a:t>
            </a:r>
            <a:endParaRPr lang="en-US" dirty="0"/>
          </a:p>
          <a:p>
            <a:r>
              <a:rPr lang="en-US" dirty="0" err="1"/>
              <a:t>Nội</a:t>
            </a:r>
            <a:r>
              <a:rPr lang="en-US" dirty="0"/>
              <a:t> dung:</a:t>
            </a:r>
          </a:p>
          <a:p>
            <a:pPr lvl="0"/>
            <a:r>
              <a:rPr lang="en-US" dirty="0"/>
              <a:t>Next.js/Webpack </a:t>
            </a:r>
            <a:r>
              <a:rPr lang="en-US" dirty="0" err="1"/>
              <a:t>tự</a:t>
            </a:r>
            <a:r>
              <a:rPr lang="en-US" dirty="0"/>
              <a:t> </a:t>
            </a:r>
            <a:r>
              <a:rPr lang="en-US" dirty="0" err="1"/>
              <a:t>động</a:t>
            </a:r>
            <a:r>
              <a:rPr lang="en-US" dirty="0"/>
              <a:t> </a:t>
            </a:r>
            <a:r>
              <a:rPr lang="en-US" dirty="0" err="1"/>
              <a:t>thêm</a:t>
            </a:r>
            <a:r>
              <a:rPr lang="en-US" dirty="0"/>
              <a:t> </a:t>
            </a:r>
            <a:r>
              <a:rPr lang="en-US" dirty="0" err="1"/>
              <a:t>các</a:t>
            </a:r>
            <a:r>
              <a:rPr lang="en-US" dirty="0"/>
              <a:t> comment.</a:t>
            </a:r>
          </a:p>
          <a:p>
            <a:pPr lvl="0"/>
            <a:r>
              <a:rPr lang="en-US" dirty="0" err="1"/>
              <a:t>Mục</a:t>
            </a:r>
            <a:r>
              <a:rPr lang="en-US" dirty="0"/>
              <a:t> </a:t>
            </a:r>
            <a:r>
              <a:rPr lang="en-US" dirty="0" err="1"/>
              <a:t>đích</a:t>
            </a:r>
            <a:r>
              <a:rPr lang="en-US" dirty="0"/>
              <a:t>: </a:t>
            </a:r>
            <a:r>
              <a:rPr lang="en-US" dirty="0" err="1"/>
              <a:t>Giúp</a:t>
            </a:r>
            <a:r>
              <a:rPr lang="en-US" dirty="0"/>
              <a:t> browser </a:t>
            </a:r>
            <a:r>
              <a:rPr lang="en-US" dirty="0" err="1"/>
              <a:t>DevTools</a:t>
            </a:r>
            <a:r>
              <a:rPr lang="en-US" dirty="0"/>
              <a:t> map code minified/compiled </a:t>
            </a:r>
            <a:r>
              <a:rPr lang="en-US" dirty="0" err="1"/>
              <a:t>về</a:t>
            </a:r>
            <a:r>
              <a:rPr lang="en-US" dirty="0"/>
              <a:t> source </a:t>
            </a:r>
            <a:r>
              <a:rPr lang="en-US" dirty="0" err="1"/>
              <a:t>gốc</a:t>
            </a:r>
            <a:r>
              <a:rPr lang="en-US" dirty="0"/>
              <a:t> (original file) </a:t>
            </a:r>
            <a:r>
              <a:rPr lang="en-US" dirty="0" err="1"/>
              <a:t>để</a:t>
            </a:r>
            <a:r>
              <a:rPr lang="en-US" dirty="0"/>
              <a:t> debug </a:t>
            </a:r>
            <a:r>
              <a:rPr lang="en-US" dirty="0" err="1"/>
              <a:t>dễ</a:t>
            </a:r>
            <a:r>
              <a:rPr lang="en-US" dirty="0"/>
              <a:t> </a:t>
            </a:r>
            <a:r>
              <a:rPr lang="en-US" dirty="0" err="1"/>
              <a:t>dàng</a:t>
            </a:r>
            <a:r>
              <a:rPr lang="en-US" dirty="0"/>
              <a:t> (</a:t>
            </a:r>
            <a:r>
              <a:rPr lang="en-US" dirty="0" err="1"/>
              <a:t>hiển</a:t>
            </a:r>
            <a:r>
              <a:rPr lang="en-US" dirty="0"/>
              <a:t> </a:t>
            </a:r>
            <a:r>
              <a:rPr lang="en-US" dirty="0" err="1"/>
              <a:t>thị</a:t>
            </a:r>
            <a:r>
              <a:rPr lang="en-US" dirty="0"/>
              <a:t> </a:t>
            </a:r>
            <a:r>
              <a:rPr lang="en-US" dirty="0" err="1"/>
              <a:t>tên</a:t>
            </a:r>
            <a:r>
              <a:rPr lang="en-US" dirty="0"/>
              <a:t> file </a:t>
            </a:r>
            <a:r>
              <a:rPr lang="en-US" dirty="0" err="1"/>
              <a:t>thật</a:t>
            </a:r>
            <a:r>
              <a:rPr lang="en-US" dirty="0"/>
              <a:t>, </a:t>
            </a:r>
            <a:r>
              <a:rPr lang="en-US" dirty="0" err="1"/>
              <a:t>dòng</a:t>
            </a:r>
            <a:r>
              <a:rPr lang="en-US" dirty="0"/>
              <a:t> code </a:t>
            </a:r>
            <a:r>
              <a:rPr lang="en-US" dirty="0" err="1"/>
              <a:t>gốc</a:t>
            </a:r>
            <a:r>
              <a:rPr lang="en-US" dirty="0"/>
              <a:t> </a:t>
            </a:r>
            <a:r>
              <a:rPr lang="en-US" dirty="0" err="1"/>
              <a:t>khi</a:t>
            </a:r>
            <a:r>
              <a:rPr lang="en-US" dirty="0"/>
              <a:t> debug).</a:t>
            </a:r>
          </a:p>
          <a:p>
            <a:r>
              <a:rPr lang="en-US" dirty="0" err="1"/>
              <a:t>Khuyến</a:t>
            </a:r>
            <a:r>
              <a:rPr lang="en-US" dirty="0"/>
              <a:t> </a:t>
            </a:r>
            <a:r>
              <a:rPr lang="en-US" dirty="0" err="1"/>
              <a:t>nghị</a:t>
            </a:r>
            <a:r>
              <a:rPr lang="en-US" dirty="0"/>
              <a:t>: </a:t>
            </a:r>
          </a:p>
          <a:p>
            <a:pPr lvl="0"/>
            <a:r>
              <a:rPr lang="en-US" dirty="0"/>
              <a:t>Ignore </a:t>
            </a:r>
            <a:r>
              <a:rPr lang="en-US" dirty="0" err="1"/>
              <a:t>hoàn</a:t>
            </a:r>
            <a:r>
              <a:rPr lang="en-US" dirty="0"/>
              <a:t> </a:t>
            </a:r>
            <a:r>
              <a:rPr lang="en-US" dirty="0" err="1"/>
              <a:t>toàn</a:t>
            </a:r>
            <a:r>
              <a:rPr lang="en-US" dirty="0"/>
              <a:t> alert </a:t>
            </a:r>
            <a:r>
              <a:rPr lang="en-US" dirty="0" err="1"/>
              <a:t>này</a:t>
            </a:r>
            <a:r>
              <a:rPr lang="en-US" dirty="0"/>
              <a:t> (</a:t>
            </a:r>
            <a:r>
              <a:rPr lang="en-US" dirty="0" err="1"/>
              <a:t>không</a:t>
            </a:r>
            <a:r>
              <a:rPr lang="en-US" dirty="0"/>
              <a:t> </a:t>
            </a:r>
            <a:r>
              <a:rPr lang="en-US" dirty="0" err="1"/>
              <a:t>ảnh</a:t>
            </a:r>
            <a:r>
              <a:rPr lang="en-US" dirty="0"/>
              <a:t> </a:t>
            </a:r>
            <a:r>
              <a:rPr lang="en-US" dirty="0" err="1"/>
              <a:t>hưởng</a:t>
            </a:r>
            <a:r>
              <a:rPr lang="en-US" dirty="0"/>
              <a:t> </a:t>
            </a:r>
            <a:r>
              <a:rPr lang="en-US" dirty="0" err="1"/>
              <a:t>bảo</a:t>
            </a:r>
            <a:r>
              <a:rPr lang="en-US" dirty="0"/>
              <a:t> </a:t>
            </a:r>
            <a:r>
              <a:rPr lang="en-US" dirty="0" err="1"/>
              <a:t>mật</a:t>
            </a:r>
            <a:r>
              <a:rPr lang="en-US" dirty="0"/>
              <a:t> </a:t>
            </a:r>
            <a:r>
              <a:rPr lang="en-US" dirty="0" err="1"/>
              <a:t>thực</a:t>
            </a:r>
            <a:r>
              <a:rPr lang="en-US" dirty="0"/>
              <a:t> </a:t>
            </a:r>
            <a:r>
              <a:rPr lang="en-US" dirty="0" err="1"/>
              <a:t>tế</a:t>
            </a:r>
            <a:r>
              <a:rPr lang="en-US" dirty="0"/>
              <a:t>) </a:t>
            </a:r>
            <a:r>
              <a:rPr lang="en-US" dirty="0" err="1"/>
              <a:t>hoặc</a:t>
            </a:r>
            <a:r>
              <a:rPr lang="en-US" dirty="0"/>
              <a:t> disable source map comment </a:t>
            </a:r>
            <a:r>
              <a:rPr lang="en-US" dirty="0" err="1"/>
              <a:t>tạm</a:t>
            </a:r>
            <a:r>
              <a:rPr lang="en-US" dirty="0"/>
              <a:t> </a:t>
            </a:r>
            <a:r>
              <a:rPr lang="en-US" dirty="0" err="1"/>
              <a:t>thời</a:t>
            </a:r>
            <a:r>
              <a:rPr lang="en-US" dirty="0"/>
              <a:t>.</a:t>
            </a:r>
          </a:p>
        </p:txBody>
      </p:sp>
      <p:pic>
        <p:nvPicPr>
          <p:cNvPr id="4" name="Chỗ dành sẵn cho Nội dung 4" descr="Ảnh có chứa văn bản, ảnh chụp màn hình, phần mềm, Biểu tượng máy tính&#10;&#10;Nội dung do AI tạo ra có thể không chính xác.">
            <a:extLst>
              <a:ext uri="{FF2B5EF4-FFF2-40B4-BE49-F238E27FC236}">
                <a16:creationId xmlns:a16="http://schemas.microsoft.com/office/drawing/2014/main" id="{663FEA78-413A-DD4B-D833-15D47B5A93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4898" y="1252611"/>
            <a:ext cx="9982200" cy="5605389"/>
          </a:xfrm>
          <a:prstGeom prst="rect">
            <a:avLst/>
          </a:prstGeom>
        </p:spPr>
      </p:pic>
    </p:spTree>
    <p:extLst>
      <p:ext uri="{BB962C8B-B14F-4D97-AF65-F5344CB8AC3E}">
        <p14:creationId xmlns:p14="http://schemas.microsoft.com/office/powerpoint/2010/main" val="4053268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6: </a:t>
            </a:r>
            <a:r>
              <a:rPr lang="en-US" b="1" dirty="0" err="1">
                <a:latin typeface="Times New Roman" panose="02020603050405020304" pitchFamily="18" charset="0"/>
                <a:ea typeface="Tahoma" panose="020B0604030504040204" pitchFamily="34" charset="0"/>
                <a:cs typeface="Times New Roman" panose="02020603050405020304" pitchFamily="18" charset="0"/>
              </a:rPr>
              <a:t>Kiểm</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thử</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tự</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động</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1088571"/>
            <a:ext cx="12191999" cy="5769428"/>
          </a:xfrm>
        </p:spPr>
        <p:txBody>
          <a:bodyPr/>
          <a:lstStyle/>
          <a:p>
            <a:pPr marL="0" indent="0">
              <a:buNone/>
            </a:pPr>
            <a:r>
              <a:rPr lang="en-US" b="1" dirty="0">
                <a:latin typeface="Times New Roman" panose="02020603050405020304" pitchFamily="18" charset="0"/>
                <a:cs typeface="Times New Roman" panose="02020603050405020304" pitchFamily="18" charset="0"/>
              </a:rPr>
              <a:t>6.5. </a:t>
            </a:r>
            <a:r>
              <a:rPr lang="en-US" b="1" dirty="0" err="1">
                <a:latin typeface="Times New Roman" panose="02020603050405020304" pitchFamily="18" charset="0"/>
                <a:cs typeface="Times New Roman" panose="02020603050405020304" pitchFamily="18" charset="0"/>
              </a:rPr>
              <a:t>Nhận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xét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về</a:t>
            </a:r>
            <a:r>
              <a:rPr lang="en-US" b="1" dirty="0">
                <a:latin typeface="Times New Roman" panose="02020603050405020304" pitchFamily="18" charset="0"/>
                <a:cs typeface="Times New Roman" panose="02020603050405020304" pitchFamily="18" charset="0"/>
              </a:rPr>
              <a:t> automation:</a:t>
            </a:r>
          </a:p>
          <a:p>
            <a:pPr marL="0" indent="0">
              <a:buNone/>
            </a:pPr>
            <a:r>
              <a:rPr lang="en-US"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Automation</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testing</a:t>
            </a:r>
            <a:r>
              <a:rPr lang="vi-VN" dirty="0">
                <a:latin typeface="Times New Roman" panose="02020603050405020304" pitchFamily="18" charset="0"/>
                <a:cs typeface="Times New Roman" panose="02020603050405020304" pitchFamily="18" charset="0"/>
              </a:rPr>
              <a:t> bằng ZAP giúp phát hiện nhanh các lỗ hổng bảo mật phổ biến và lỗi cấu hình hệ thống với độ bao phủ cao, từ đó tiết kiệm thời gian và công sức so với kiểm thử thủ công. Tuy nhiên, công cụ vẫn tồn tại hạn chế như sinh ra </a:t>
            </a:r>
            <a:r>
              <a:rPr lang="vi-VN" dirty="0" err="1">
                <a:latin typeface="Times New Roman" panose="02020603050405020304" pitchFamily="18" charset="0"/>
                <a:cs typeface="Times New Roman" panose="02020603050405020304" pitchFamily="18" charset="0"/>
              </a:rPr>
              <a:t>false</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positive</a:t>
            </a:r>
            <a:r>
              <a:rPr lang="vi-VN" dirty="0">
                <a:latin typeface="Times New Roman" panose="02020603050405020304" pitchFamily="18" charset="0"/>
                <a:cs typeface="Times New Roman" panose="02020603050405020304" pitchFamily="18" charset="0"/>
              </a:rPr>
              <a:t>, không hiểu </a:t>
            </a:r>
            <a:r>
              <a:rPr lang="vi-VN" dirty="0" err="1">
                <a:latin typeface="Times New Roman" panose="02020603050405020304" pitchFamily="18" charset="0"/>
                <a:cs typeface="Times New Roman" panose="02020603050405020304" pitchFamily="18" charset="0"/>
              </a:rPr>
              <a:t>logic</a:t>
            </a:r>
            <a:r>
              <a:rPr lang="vi-VN" dirty="0">
                <a:latin typeface="Times New Roman" panose="02020603050405020304" pitchFamily="18" charset="0"/>
                <a:cs typeface="Times New Roman" panose="02020603050405020304" pitchFamily="18" charset="0"/>
              </a:rPr>
              <a:t> nghiệp vụ và phụ thuộc vào môi trường chạy (</a:t>
            </a:r>
            <a:r>
              <a:rPr lang="vi-VN" dirty="0" err="1">
                <a:latin typeface="Times New Roman" panose="02020603050405020304" pitchFamily="18" charset="0"/>
                <a:cs typeface="Times New Roman" panose="02020603050405020304" pitchFamily="18" charset="0"/>
              </a:rPr>
              <a:t>development</a:t>
            </a:r>
            <a:r>
              <a:rPr lang="vi-VN" dirty="0">
                <a:latin typeface="Times New Roman" panose="02020603050405020304" pitchFamily="18" charset="0"/>
                <a:cs typeface="Times New Roman" panose="02020603050405020304" pitchFamily="18" charset="0"/>
              </a:rPr>
              <a:t>/</a:t>
            </a:r>
            <a:r>
              <a:rPr lang="vi-VN" dirty="0" err="1">
                <a:latin typeface="Times New Roman" panose="02020603050405020304" pitchFamily="18" charset="0"/>
                <a:cs typeface="Times New Roman" panose="02020603050405020304" pitchFamily="18" charset="0"/>
              </a:rPr>
              <a:t>production</a:t>
            </a:r>
            <a:r>
              <a:rPr lang="vi-VN" dirty="0">
                <a:latin typeface="Times New Roman" panose="02020603050405020304" pitchFamily="18" charset="0"/>
                <a:cs typeface="Times New Roman" panose="02020603050405020304" pitchFamily="18" charset="0"/>
              </a:rPr>
              <a:t>). Vì vậy, cần kết hợp giữa </a:t>
            </a:r>
            <a:r>
              <a:rPr lang="vi-VN" dirty="0" err="1">
                <a:latin typeface="Times New Roman" panose="02020603050405020304" pitchFamily="18" charset="0"/>
                <a:cs typeface="Times New Roman" panose="02020603050405020304" pitchFamily="18" charset="0"/>
              </a:rPr>
              <a:t>automation</a:t>
            </a:r>
            <a:r>
              <a:rPr lang="vi-VN" dirty="0">
                <a:latin typeface="Times New Roman" panose="02020603050405020304" pitchFamily="18" charset="0"/>
                <a:cs typeface="Times New Roman" panose="02020603050405020304" pitchFamily="18" charset="0"/>
              </a:rPr>
              <a:t> và </a:t>
            </a:r>
            <a:r>
              <a:rPr lang="vi-VN" dirty="0" err="1">
                <a:latin typeface="Times New Roman" panose="02020603050405020304" pitchFamily="18" charset="0"/>
                <a:cs typeface="Times New Roman" panose="02020603050405020304" pitchFamily="18" charset="0"/>
              </a:rPr>
              <a:t>manual</a:t>
            </a:r>
            <a:r>
              <a:rPr lang="vi-VN" dirty="0">
                <a:latin typeface="Times New Roman" panose="02020603050405020304" pitchFamily="18" charset="0"/>
                <a:cs typeface="Times New Roman" panose="02020603050405020304" pitchFamily="18" charset="0"/>
              </a:rPr>
              <a:t> </a:t>
            </a:r>
            <a:r>
              <a:rPr lang="vi-VN" dirty="0" err="1">
                <a:latin typeface="Times New Roman" panose="02020603050405020304" pitchFamily="18" charset="0"/>
                <a:cs typeface="Times New Roman" panose="02020603050405020304" pitchFamily="18" charset="0"/>
              </a:rPr>
              <a:t>testing</a:t>
            </a:r>
            <a:r>
              <a:rPr lang="vi-VN" dirty="0">
                <a:latin typeface="Times New Roman" panose="02020603050405020304" pitchFamily="18" charset="0"/>
                <a:cs typeface="Times New Roman" panose="02020603050405020304" pitchFamily="18" charset="0"/>
              </a:rPr>
              <a:t> để đảm bảo chất lượng và bảo mật hệ thống một cách toàn diện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47147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7: </a:t>
            </a:r>
            <a:r>
              <a:rPr lang="en-US" b="1" dirty="0" err="1">
                <a:latin typeface="Times New Roman" panose="02020603050405020304" pitchFamily="18" charset="0"/>
                <a:ea typeface="Tahoma" panose="020B0604030504040204" pitchFamily="34" charset="0"/>
                <a:cs typeface="Times New Roman" panose="02020603050405020304" pitchFamily="18" charset="0"/>
              </a:rPr>
              <a:t>Báo</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cáo</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lỗi</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838885"/>
            <a:ext cx="12191999" cy="6019114"/>
          </a:xfrm>
        </p:spPr>
        <p:txBody>
          <a:bodyPr/>
          <a:lstStyle/>
          <a:p>
            <a:pPr marL="0" indent="0">
              <a:buNone/>
            </a:pPr>
            <a:r>
              <a:rPr lang="en-US" b="1" dirty="0">
                <a:latin typeface="Times New Roman" panose="02020603050405020304" pitchFamily="18" charset="0"/>
                <a:cs typeface="Times New Roman" panose="02020603050405020304" pitchFamily="18" charset="0"/>
              </a:rPr>
              <a:t>7.1. Danh </a:t>
            </a:r>
            <a:r>
              <a:rPr lang="en-US" b="1" dirty="0" err="1">
                <a:latin typeface="Times New Roman" panose="02020603050405020304" pitchFamily="18" charset="0"/>
                <a:cs typeface="Times New Roman" panose="02020603050405020304" pitchFamily="18" charset="0"/>
              </a:rPr>
              <a:t>sách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toàn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bộ</a:t>
            </a:r>
            <a:r>
              <a:rPr lang="en-US" b="1" dirty="0">
                <a:latin typeface="Times New Roman" panose="02020603050405020304" pitchFamily="18" charset="0"/>
                <a:cs typeface="Times New Roman" panose="02020603050405020304" pitchFamily="18" charset="0"/>
              </a:rPr>
              <a:t> bug </a:t>
            </a:r>
            <a:r>
              <a:rPr lang="en-US" b="1" dirty="0" err="1">
                <a:latin typeface="Times New Roman" panose="02020603050405020304" pitchFamily="18" charset="0"/>
                <a:cs typeface="Times New Roman" panose="02020603050405020304" pitchFamily="18" charset="0"/>
              </a:rPr>
              <a:t>tìm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được</a:t>
            </a:r>
            <a:r>
              <a:rPr lang="en-US" b="1" dirty="0">
                <a:latin typeface="Times New Roman" panose="02020603050405020304" pitchFamily="18" charset="0"/>
                <a:cs typeface="Times New Roman" panose="02020603050405020304" pitchFamily="18" charset="0"/>
              </a:rPr>
              <a:t>:</a:t>
            </a:r>
          </a:p>
        </p:txBody>
      </p:sp>
      <p:graphicFrame>
        <p:nvGraphicFramePr>
          <p:cNvPr id="4" name="Bảng 3">
            <a:extLst>
              <a:ext uri="{FF2B5EF4-FFF2-40B4-BE49-F238E27FC236}">
                <a16:creationId xmlns:a16="http://schemas.microsoft.com/office/drawing/2014/main" id="{56D79ED9-62A3-6FE9-87B9-800D1B5F5F92}"/>
              </a:ext>
            </a:extLst>
          </p:cNvPr>
          <p:cNvGraphicFramePr>
            <a:graphicFrameLocks noGrp="1"/>
          </p:cNvGraphicFramePr>
          <p:nvPr>
            <p:extLst>
              <p:ext uri="{D42A27DB-BD31-4B8C-83A1-F6EECF244321}">
                <p14:modId xmlns:p14="http://schemas.microsoft.com/office/powerpoint/2010/main" val="3204869534"/>
              </p:ext>
            </p:extLst>
          </p:nvPr>
        </p:nvGraphicFramePr>
        <p:xfrm>
          <a:off x="370114" y="1284514"/>
          <a:ext cx="11625943" cy="5573488"/>
        </p:xfrm>
        <a:graphic>
          <a:graphicData uri="http://schemas.openxmlformats.org/drawingml/2006/table">
            <a:tbl>
              <a:tblPr>
                <a:tableStyleId>{5C22544A-7EE6-4342-B048-85BDC9FD1C3A}</a:tableStyleId>
              </a:tblPr>
              <a:tblGrid>
                <a:gridCol w="1052433">
                  <a:extLst>
                    <a:ext uri="{9D8B030D-6E8A-4147-A177-3AD203B41FA5}">
                      <a16:colId xmlns:a16="http://schemas.microsoft.com/office/drawing/2014/main" val="1522749412"/>
                    </a:ext>
                  </a:extLst>
                </a:gridCol>
                <a:gridCol w="5901495">
                  <a:extLst>
                    <a:ext uri="{9D8B030D-6E8A-4147-A177-3AD203B41FA5}">
                      <a16:colId xmlns:a16="http://schemas.microsoft.com/office/drawing/2014/main" val="2941798690"/>
                    </a:ext>
                  </a:extLst>
                </a:gridCol>
                <a:gridCol w="2734357">
                  <a:extLst>
                    <a:ext uri="{9D8B030D-6E8A-4147-A177-3AD203B41FA5}">
                      <a16:colId xmlns:a16="http://schemas.microsoft.com/office/drawing/2014/main" val="1055443468"/>
                    </a:ext>
                  </a:extLst>
                </a:gridCol>
                <a:gridCol w="1937658">
                  <a:extLst>
                    <a:ext uri="{9D8B030D-6E8A-4147-A177-3AD203B41FA5}">
                      <a16:colId xmlns:a16="http://schemas.microsoft.com/office/drawing/2014/main" val="3134564782"/>
                    </a:ext>
                  </a:extLst>
                </a:gridCol>
              </a:tblGrid>
              <a:tr h="555442">
                <a:tc>
                  <a:txBody>
                    <a:bodyPr/>
                    <a:lstStyle/>
                    <a:p>
                      <a:pPr algn="ctr" fontAlgn="ctr"/>
                      <a:r>
                        <a:rPr lang="en-US" sz="1400" u="none" strike="noStrike">
                          <a:effectLst/>
                        </a:rPr>
                        <a:t>ID</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dirty="0" err="1">
                          <a:effectLst/>
                        </a:rPr>
                        <a:t>Tên</a:t>
                      </a:r>
                      <a:r>
                        <a:rPr lang="en-US" sz="1400" u="none" strike="noStrike" dirty="0">
                          <a:effectLst/>
                        </a:rPr>
                        <a:t> </a:t>
                      </a:r>
                      <a:r>
                        <a:rPr lang="en-US" sz="1400" u="none" strike="noStrike" dirty="0" err="1">
                          <a:effectLst/>
                        </a:rPr>
                        <a:t>lỗi</a:t>
                      </a:r>
                      <a:endParaRPr lang="en-US" sz="1400" b="0" i="0" u="none" strike="noStrike" dirty="0">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Mức độ nghiêm trọng</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Ngày phát hiện</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97819842"/>
                  </a:ext>
                </a:extLst>
              </a:tr>
              <a:tr h="280899">
                <a:tc>
                  <a:txBody>
                    <a:bodyPr/>
                    <a:lstStyle/>
                    <a:p>
                      <a:pPr algn="ctr" fontAlgn="ctr"/>
                      <a:r>
                        <a:rPr lang="en-US" sz="1400" u="none" strike="noStrike">
                          <a:effectLst/>
                        </a:rPr>
                        <a:t>Bug_1</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email</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546678739"/>
                  </a:ext>
                </a:extLst>
              </a:tr>
              <a:tr h="280899">
                <a:tc>
                  <a:txBody>
                    <a:bodyPr/>
                    <a:lstStyle/>
                    <a:p>
                      <a:pPr algn="ctr" fontAlgn="ctr"/>
                      <a:r>
                        <a:rPr lang="en-US" sz="1400" u="none" strike="noStrike">
                          <a:effectLst/>
                        </a:rPr>
                        <a:t>Bug_2</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 email</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409034744"/>
                  </a:ext>
                </a:extLst>
              </a:tr>
              <a:tr h="555442">
                <a:tc>
                  <a:txBody>
                    <a:bodyPr/>
                    <a:lstStyle/>
                    <a:p>
                      <a:pPr algn="ctr" fontAlgn="ctr"/>
                      <a:r>
                        <a:rPr lang="en-US" sz="1400" u="none" strike="noStrike">
                          <a:effectLst/>
                        </a:rPr>
                        <a:t>Bug_3</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nhập tên sản phẩm khi tạo sản phẩm mới</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Khá</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449435656"/>
                  </a:ext>
                </a:extLst>
              </a:tr>
              <a:tr h="280899">
                <a:tc>
                  <a:txBody>
                    <a:bodyPr/>
                    <a:lstStyle/>
                    <a:p>
                      <a:pPr algn="ctr" fontAlgn="ctr"/>
                      <a:r>
                        <a:rPr lang="en-US" sz="1400" u="none" strike="noStrike">
                          <a:effectLst/>
                        </a:rPr>
                        <a:t>Bug_4</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vi-VN" sz="1400" u="none" strike="noStrike">
                          <a:effectLst/>
                        </a:rPr>
                        <a:t>Số lượng tồn kho âm</a:t>
                      </a:r>
                      <a:endParaRPr lang="vi-VN"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Cao</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341566134"/>
                  </a:ext>
                </a:extLst>
              </a:tr>
              <a:tr h="555442">
                <a:tc>
                  <a:txBody>
                    <a:bodyPr/>
                    <a:lstStyle/>
                    <a:p>
                      <a:pPr algn="ctr" fontAlgn="ctr"/>
                      <a:r>
                        <a:rPr lang="en-US" sz="1400" u="none" strike="noStrike">
                          <a:effectLst/>
                        </a:rPr>
                        <a:t>Bug_5</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nhập danh mục khi tạo sản phẩm mới</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Khá</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298429392"/>
                  </a:ext>
                </a:extLst>
              </a:tr>
              <a:tr h="555442">
                <a:tc>
                  <a:txBody>
                    <a:bodyPr/>
                    <a:lstStyle/>
                    <a:p>
                      <a:pPr algn="ctr" fontAlgn="ctr"/>
                      <a:r>
                        <a:rPr lang="en-US" sz="1400" u="none" strike="noStrike">
                          <a:effectLst/>
                        </a:rPr>
                        <a:t>Bug_6</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Không tải danh sách lịch sử quản lý tài khoản</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Khá</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063418620"/>
                  </a:ext>
                </a:extLst>
              </a:tr>
              <a:tr h="280899">
                <a:tc>
                  <a:txBody>
                    <a:bodyPr/>
                    <a:lstStyle/>
                    <a:p>
                      <a:pPr algn="ctr" fontAlgn="ctr"/>
                      <a:r>
                        <a:rPr lang="en-US" sz="1400" u="none" strike="noStrike">
                          <a:effectLst/>
                        </a:rPr>
                        <a:t>Bug_7</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Directory Browsing</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402374849"/>
                  </a:ext>
                </a:extLst>
              </a:tr>
              <a:tr h="280899">
                <a:tc>
                  <a:txBody>
                    <a:bodyPr/>
                    <a:lstStyle/>
                    <a:p>
                      <a:pPr algn="ctr" fontAlgn="ctr"/>
                      <a:r>
                        <a:rPr lang="en-US" sz="1400" u="none" strike="noStrike">
                          <a:effectLst/>
                        </a:rPr>
                        <a:t>Bug_8</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Missing Anti-clickjacking Header</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73975701"/>
                  </a:ext>
                </a:extLst>
              </a:tr>
              <a:tr h="280899">
                <a:tc>
                  <a:txBody>
                    <a:bodyPr/>
                    <a:lstStyle/>
                    <a:p>
                      <a:pPr algn="ctr" fontAlgn="ctr"/>
                      <a:r>
                        <a:rPr lang="en-US" sz="1400" u="none" strike="noStrike">
                          <a:effectLst/>
                        </a:rPr>
                        <a:t>Bug_9</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Application Error Disclosure</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559170742"/>
                  </a:ext>
                </a:extLst>
              </a:tr>
              <a:tr h="555442">
                <a:tc>
                  <a:txBody>
                    <a:bodyPr/>
                    <a:lstStyle/>
                    <a:p>
                      <a:pPr algn="ctr" fontAlgn="ctr"/>
                      <a:r>
                        <a:rPr lang="en-US" sz="1400" u="none" strike="noStrike">
                          <a:effectLst/>
                        </a:rPr>
                        <a:t>Bug_10</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X-Powered-By header HTTP Response</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587452980"/>
                  </a:ext>
                </a:extLst>
              </a:tr>
              <a:tr h="555442">
                <a:tc>
                  <a:txBody>
                    <a:bodyPr/>
                    <a:lstStyle/>
                    <a:p>
                      <a:pPr algn="ctr" fontAlgn="ctr"/>
                      <a:r>
                        <a:rPr lang="en-US" sz="1400" u="none" strike="noStrike">
                          <a:effectLst/>
                        </a:rPr>
                        <a:t>Bug_11</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Timestamp Disclosure - Unix</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171595455"/>
                  </a:ext>
                </a:extLst>
              </a:tr>
              <a:tr h="555442">
                <a:tc>
                  <a:txBody>
                    <a:bodyPr/>
                    <a:lstStyle/>
                    <a:p>
                      <a:pPr algn="ctr" fontAlgn="ctr"/>
                      <a:r>
                        <a:rPr lang="en-US" sz="1400" u="none" strike="noStrike">
                          <a:effectLst/>
                        </a:rPr>
                        <a:t>Bug_12</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Information Disclosure - Suspicious Comments</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Thông tin – Rất 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dirty="0">
                          <a:effectLst/>
                        </a:rPr>
                        <a:t>02/02/2026</a:t>
                      </a:r>
                      <a:endParaRPr lang="en-US" sz="1400" b="0" i="0" u="none" strike="noStrike" dirty="0">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899755462"/>
                  </a:ext>
                </a:extLst>
              </a:tr>
            </a:tbl>
          </a:graphicData>
        </a:graphic>
      </p:graphicFrame>
    </p:spTree>
    <p:extLst>
      <p:ext uri="{BB962C8B-B14F-4D97-AF65-F5344CB8AC3E}">
        <p14:creationId xmlns:p14="http://schemas.microsoft.com/office/powerpoint/2010/main" val="860934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7: </a:t>
            </a:r>
            <a:r>
              <a:rPr lang="en-US" b="1" dirty="0" err="1">
                <a:latin typeface="Times New Roman" panose="02020603050405020304" pitchFamily="18" charset="0"/>
                <a:ea typeface="Tahoma" panose="020B0604030504040204" pitchFamily="34" charset="0"/>
                <a:cs typeface="Times New Roman" panose="02020603050405020304" pitchFamily="18" charset="0"/>
              </a:rPr>
              <a:t>Báo</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cáo</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lỗi</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794657"/>
            <a:ext cx="12192000" cy="6063342"/>
          </a:xfrm>
        </p:spPr>
        <p:txBody>
          <a:bodyPr/>
          <a:lstStyle/>
          <a:p>
            <a:pPr marL="0" indent="0">
              <a:buNone/>
            </a:pPr>
            <a:r>
              <a:rPr lang="en-US" b="1" dirty="0">
                <a:latin typeface="Times New Roman" panose="02020603050405020304" pitchFamily="18" charset="0"/>
                <a:cs typeface="Times New Roman" panose="02020603050405020304" pitchFamily="18" charset="0"/>
              </a:rPr>
              <a:t>7.2. </a:t>
            </a:r>
            <a:r>
              <a:rPr lang="en-US" b="1" dirty="0" err="1">
                <a:latin typeface="Times New Roman" panose="02020603050405020304" pitchFamily="18" charset="0"/>
                <a:cs typeface="Times New Roman" panose="02020603050405020304" pitchFamily="18" charset="0"/>
              </a:rPr>
              <a:t>Phân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loại</a:t>
            </a:r>
            <a:r>
              <a:rPr lang="en-US" b="1" dirty="0">
                <a:latin typeface="Times New Roman" panose="02020603050405020304" pitchFamily="18" charset="0"/>
                <a:cs typeface="Times New Roman" panose="02020603050405020304" pitchFamily="18" charset="0"/>
              </a:rPr>
              <a:t> bug </a:t>
            </a:r>
            <a:r>
              <a:rPr lang="en-US" b="1" dirty="0" err="1">
                <a:latin typeface="Times New Roman" panose="02020603050405020304" pitchFamily="18" charset="0"/>
                <a:cs typeface="Times New Roman" panose="02020603050405020304" pitchFamily="18" charset="0"/>
              </a:rPr>
              <a:t>theo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độ</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nghiêm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trọng</a:t>
            </a:r>
            <a:r>
              <a:rPr lang="en-US" b="1" dirty="0">
                <a:latin typeface="Times New Roman" panose="02020603050405020304" pitchFamily="18" charset="0"/>
                <a:cs typeface="Times New Roman" panose="02020603050405020304" pitchFamily="18" charset="0"/>
              </a:rPr>
              <a:t>:</a:t>
            </a:r>
          </a:p>
        </p:txBody>
      </p:sp>
      <p:graphicFrame>
        <p:nvGraphicFramePr>
          <p:cNvPr id="4" name="Bảng 3">
            <a:extLst>
              <a:ext uri="{FF2B5EF4-FFF2-40B4-BE49-F238E27FC236}">
                <a16:creationId xmlns:a16="http://schemas.microsoft.com/office/drawing/2014/main" id="{AFB308D5-7536-B994-066B-D87FC61C471A}"/>
              </a:ext>
            </a:extLst>
          </p:cNvPr>
          <p:cNvGraphicFramePr>
            <a:graphicFrameLocks noGrp="1"/>
          </p:cNvGraphicFramePr>
          <p:nvPr>
            <p:extLst>
              <p:ext uri="{D42A27DB-BD31-4B8C-83A1-F6EECF244321}">
                <p14:modId xmlns:p14="http://schemas.microsoft.com/office/powerpoint/2010/main" val="2814965249"/>
              </p:ext>
            </p:extLst>
          </p:nvPr>
        </p:nvGraphicFramePr>
        <p:xfrm>
          <a:off x="370114" y="1284514"/>
          <a:ext cx="11625943" cy="5573488"/>
        </p:xfrm>
        <a:graphic>
          <a:graphicData uri="http://schemas.openxmlformats.org/drawingml/2006/table">
            <a:tbl>
              <a:tblPr>
                <a:tableStyleId>{5C22544A-7EE6-4342-B048-85BDC9FD1C3A}</a:tableStyleId>
              </a:tblPr>
              <a:tblGrid>
                <a:gridCol w="1052433">
                  <a:extLst>
                    <a:ext uri="{9D8B030D-6E8A-4147-A177-3AD203B41FA5}">
                      <a16:colId xmlns:a16="http://schemas.microsoft.com/office/drawing/2014/main" val="1522749412"/>
                    </a:ext>
                  </a:extLst>
                </a:gridCol>
                <a:gridCol w="5901495">
                  <a:extLst>
                    <a:ext uri="{9D8B030D-6E8A-4147-A177-3AD203B41FA5}">
                      <a16:colId xmlns:a16="http://schemas.microsoft.com/office/drawing/2014/main" val="2941798690"/>
                    </a:ext>
                  </a:extLst>
                </a:gridCol>
                <a:gridCol w="2734357">
                  <a:extLst>
                    <a:ext uri="{9D8B030D-6E8A-4147-A177-3AD203B41FA5}">
                      <a16:colId xmlns:a16="http://schemas.microsoft.com/office/drawing/2014/main" val="1055443468"/>
                    </a:ext>
                  </a:extLst>
                </a:gridCol>
                <a:gridCol w="1937658">
                  <a:extLst>
                    <a:ext uri="{9D8B030D-6E8A-4147-A177-3AD203B41FA5}">
                      <a16:colId xmlns:a16="http://schemas.microsoft.com/office/drawing/2014/main" val="3134564782"/>
                    </a:ext>
                  </a:extLst>
                </a:gridCol>
              </a:tblGrid>
              <a:tr h="555442">
                <a:tc>
                  <a:txBody>
                    <a:bodyPr/>
                    <a:lstStyle/>
                    <a:p>
                      <a:pPr algn="ctr" fontAlgn="ctr"/>
                      <a:r>
                        <a:rPr lang="en-US" sz="1400" u="none" strike="noStrike">
                          <a:effectLst/>
                        </a:rPr>
                        <a:t>ID</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dirty="0" err="1">
                          <a:effectLst/>
                        </a:rPr>
                        <a:t>Tên</a:t>
                      </a:r>
                      <a:r>
                        <a:rPr lang="en-US" sz="1400" u="none" strike="noStrike" dirty="0">
                          <a:effectLst/>
                        </a:rPr>
                        <a:t> </a:t>
                      </a:r>
                      <a:r>
                        <a:rPr lang="en-US" sz="1400" u="none" strike="noStrike" dirty="0" err="1">
                          <a:effectLst/>
                        </a:rPr>
                        <a:t>lỗi</a:t>
                      </a:r>
                      <a:endParaRPr lang="en-US" sz="1400" b="0" i="0" u="none" strike="noStrike" dirty="0">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Mức độ nghiêm trọng</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Ngày phát hiện</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97819842"/>
                  </a:ext>
                </a:extLst>
              </a:tr>
              <a:tr h="280899">
                <a:tc>
                  <a:txBody>
                    <a:bodyPr/>
                    <a:lstStyle/>
                    <a:p>
                      <a:pPr algn="ctr" fontAlgn="ctr"/>
                      <a:r>
                        <a:rPr lang="en-US" sz="1400" u="none" strike="noStrike">
                          <a:effectLst/>
                        </a:rPr>
                        <a:t>Bug_1</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email</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546678739"/>
                  </a:ext>
                </a:extLst>
              </a:tr>
              <a:tr h="280899">
                <a:tc>
                  <a:txBody>
                    <a:bodyPr/>
                    <a:lstStyle/>
                    <a:p>
                      <a:pPr algn="ctr" fontAlgn="ctr"/>
                      <a:r>
                        <a:rPr lang="en-US" sz="1400" u="none" strike="noStrike">
                          <a:effectLst/>
                        </a:rPr>
                        <a:t>Bug_2</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 email</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409034744"/>
                  </a:ext>
                </a:extLst>
              </a:tr>
              <a:tr h="555442">
                <a:tc>
                  <a:txBody>
                    <a:bodyPr/>
                    <a:lstStyle/>
                    <a:p>
                      <a:pPr algn="ctr" fontAlgn="ctr"/>
                      <a:r>
                        <a:rPr lang="en-US" sz="1400" u="none" strike="noStrike">
                          <a:effectLst/>
                        </a:rPr>
                        <a:t>Bug_3</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nhập tên sản phẩm khi tạo sản phẩm mới</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Khá</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449435656"/>
                  </a:ext>
                </a:extLst>
              </a:tr>
              <a:tr h="280899">
                <a:tc>
                  <a:txBody>
                    <a:bodyPr/>
                    <a:lstStyle/>
                    <a:p>
                      <a:pPr algn="ctr" fontAlgn="ctr"/>
                      <a:r>
                        <a:rPr lang="en-US" sz="1400" u="none" strike="noStrike">
                          <a:effectLst/>
                        </a:rPr>
                        <a:t>Bug_4</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vi-VN" sz="1400" u="none" strike="noStrike">
                          <a:effectLst/>
                        </a:rPr>
                        <a:t>Số lượng tồn kho âm</a:t>
                      </a:r>
                      <a:endParaRPr lang="vi-VN"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Cao</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341566134"/>
                  </a:ext>
                </a:extLst>
              </a:tr>
              <a:tr h="555442">
                <a:tc>
                  <a:txBody>
                    <a:bodyPr/>
                    <a:lstStyle/>
                    <a:p>
                      <a:pPr algn="ctr" fontAlgn="ctr"/>
                      <a:r>
                        <a:rPr lang="en-US" sz="1400" u="none" strike="noStrike">
                          <a:effectLst/>
                        </a:rPr>
                        <a:t>Bug_5</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Thiếu nhập danh mục khi tạo sản phẩm mới</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Khá</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298429392"/>
                  </a:ext>
                </a:extLst>
              </a:tr>
              <a:tr h="555442">
                <a:tc>
                  <a:txBody>
                    <a:bodyPr/>
                    <a:lstStyle/>
                    <a:p>
                      <a:pPr algn="ctr" fontAlgn="ctr"/>
                      <a:r>
                        <a:rPr lang="en-US" sz="1400" u="none" strike="noStrike">
                          <a:effectLst/>
                        </a:rPr>
                        <a:t>Bug_6</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Không tải danh sách lịch sử quản lý tài khoản</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Khá</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063418620"/>
                  </a:ext>
                </a:extLst>
              </a:tr>
              <a:tr h="280899">
                <a:tc>
                  <a:txBody>
                    <a:bodyPr/>
                    <a:lstStyle/>
                    <a:p>
                      <a:pPr algn="ctr" fontAlgn="ctr"/>
                      <a:r>
                        <a:rPr lang="en-US" sz="1400" u="none" strike="noStrike">
                          <a:effectLst/>
                        </a:rPr>
                        <a:t>Bug_7</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Directory Browsing</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402374849"/>
                  </a:ext>
                </a:extLst>
              </a:tr>
              <a:tr h="280899">
                <a:tc>
                  <a:txBody>
                    <a:bodyPr/>
                    <a:lstStyle/>
                    <a:p>
                      <a:pPr algn="ctr" fontAlgn="ctr"/>
                      <a:r>
                        <a:rPr lang="en-US" sz="1400" u="none" strike="noStrike">
                          <a:effectLst/>
                        </a:rPr>
                        <a:t>Bug_8</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Missing Anti-clickjacking Header</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Trung bình</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73975701"/>
                  </a:ext>
                </a:extLst>
              </a:tr>
              <a:tr h="280899">
                <a:tc>
                  <a:txBody>
                    <a:bodyPr/>
                    <a:lstStyle/>
                    <a:p>
                      <a:pPr algn="ctr" fontAlgn="ctr"/>
                      <a:r>
                        <a:rPr lang="en-US" sz="1400" u="none" strike="noStrike">
                          <a:effectLst/>
                        </a:rPr>
                        <a:t>Bug_9</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Application Error Disclosure</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559170742"/>
                  </a:ext>
                </a:extLst>
              </a:tr>
              <a:tr h="555442">
                <a:tc>
                  <a:txBody>
                    <a:bodyPr/>
                    <a:lstStyle/>
                    <a:p>
                      <a:pPr algn="ctr" fontAlgn="ctr"/>
                      <a:r>
                        <a:rPr lang="en-US" sz="1400" u="none" strike="noStrike">
                          <a:effectLst/>
                        </a:rPr>
                        <a:t>Bug_10</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X-Powered-By header HTTP Response</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1587452980"/>
                  </a:ext>
                </a:extLst>
              </a:tr>
              <a:tr h="555442">
                <a:tc>
                  <a:txBody>
                    <a:bodyPr/>
                    <a:lstStyle/>
                    <a:p>
                      <a:pPr algn="ctr" fontAlgn="ctr"/>
                      <a:r>
                        <a:rPr lang="en-US" sz="1400" u="none" strike="noStrike">
                          <a:effectLst/>
                        </a:rPr>
                        <a:t>Bug_11</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Timestamp Disclosure - Unix</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02/02/2026</a:t>
                      </a:r>
                      <a:endParaRPr lang="en-US" sz="1400" b="0" i="0" u="none" strike="noStrike">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3171595455"/>
                  </a:ext>
                </a:extLst>
              </a:tr>
              <a:tr h="555442">
                <a:tc>
                  <a:txBody>
                    <a:bodyPr/>
                    <a:lstStyle/>
                    <a:p>
                      <a:pPr algn="ctr" fontAlgn="ctr"/>
                      <a:r>
                        <a:rPr lang="en-US" sz="1400" u="none" strike="noStrike" dirty="0">
                          <a:effectLst/>
                        </a:rPr>
                        <a:t>Bug_12</a:t>
                      </a:r>
                      <a:endParaRPr lang="en-US" sz="1400" b="0" i="0" u="none" strike="noStrike" dirty="0">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dirty="0">
                          <a:effectLst/>
                        </a:rPr>
                        <a:t>Information Disclosure - Suspicious Comments</a:t>
                      </a:r>
                      <a:endParaRPr lang="en-US" sz="1400" b="0" i="0" u="none" strike="noStrike" dirty="0">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a:effectLst/>
                        </a:rPr>
                        <a:t>Thông tin – Rất thấp</a:t>
                      </a:r>
                      <a:endParaRPr lang="en-US" sz="1400" b="0" i="0" u="none" strike="noStrike">
                        <a:solidFill>
                          <a:srgbClr val="000000"/>
                        </a:solidFill>
                        <a:effectLst/>
                        <a:latin typeface="Times New Roman" panose="02020603050405020304" pitchFamily="18" charset="0"/>
                      </a:endParaRPr>
                    </a:p>
                  </a:txBody>
                  <a:tcPr marL="4962" marR="4962" marT="4962" marB="0" anchor="ctr"/>
                </a:tc>
                <a:tc>
                  <a:txBody>
                    <a:bodyPr/>
                    <a:lstStyle/>
                    <a:p>
                      <a:pPr algn="ctr" fontAlgn="ctr"/>
                      <a:r>
                        <a:rPr lang="en-US" sz="1400" u="none" strike="noStrike" dirty="0">
                          <a:effectLst/>
                        </a:rPr>
                        <a:t>02/02/2026</a:t>
                      </a:r>
                      <a:endParaRPr lang="en-US" sz="1400" b="0" i="0" u="none" strike="noStrike" dirty="0">
                        <a:solidFill>
                          <a:srgbClr val="000000"/>
                        </a:solidFill>
                        <a:effectLst/>
                        <a:latin typeface="Times New Roman" panose="02020603050405020304" pitchFamily="18" charset="0"/>
                      </a:endParaRPr>
                    </a:p>
                  </a:txBody>
                  <a:tcPr marL="4962" marR="4962" marT="4962" marB="0" anchor="ctr"/>
                </a:tc>
                <a:extLst>
                  <a:ext uri="{0D108BD9-81ED-4DB2-BD59-A6C34878D82A}">
                    <a16:rowId xmlns:a16="http://schemas.microsoft.com/office/drawing/2014/main" val="2899755462"/>
                  </a:ext>
                </a:extLst>
              </a:tr>
            </a:tbl>
          </a:graphicData>
        </a:graphic>
      </p:graphicFrame>
    </p:spTree>
    <p:extLst>
      <p:ext uri="{BB962C8B-B14F-4D97-AF65-F5344CB8AC3E}">
        <p14:creationId xmlns:p14="http://schemas.microsoft.com/office/powerpoint/2010/main" val="1435271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A5B3E67-A7A5-26C2-626C-619C53CE4374}"/>
              </a:ext>
            </a:extLst>
          </p:cNvPr>
          <p:cNvSpPr>
            <a:spLocks noGrp="1"/>
          </p:cNvSpPr>
          <p:nvPr>
            <p:ph type="title"/>
          </p:nvPr>
        </p:nvSpPr>
        <p:spPr>
          <a:xfrm>
            <a:off x="0" y="1"/>
            <a:ext cx="12192000" cy="990599"/>
          </a:xfrm>
        </p:spPr>
        <p:txBody>
          <a:bodyPr/>
          <a:lstStyle/>
          <a:p>
            <a:r>
              <a:rPr lang="en-US" b="1" dirty="0" err="1">
                <a:latin typeface="Times New Roman" panose="02020603050405020304" pitchFamily="18" charset="0"/>
                <a:ea typeface="Tahoma" panose="020B0604030504040204" pitchFamily="34" charset="0"/>
                <a:cs typeface="Times New Roman" panose="02020603050405020304" pitchFamily="18" charset="0"/>
              </a:rPr>
              <a:t>Phần</a:t>
            </a:r>
            <a:r>
              <a:rPr lang="en-US" b="1" dirty="0">
                <a:latin typeface="Times New Roman" panose="02020603050405020304" pitchFamily="18" charset="0"/>
                <a:ea typeface="Tahoma" panose="020B0604030504040204" pitchFamily="34" charset="0"/>
                <a:cs typeface="Times New Roman" panose="02020603050405020304" pitchFamily="18" charset="0"/>
              </a:rPr>
              <a:t> 7: </a:t>
            </a:r>
            <a:r>
              <a:rPr lang="en-US" b="1" dirty="0" err="1">
                <a:latin typeface="Times New Roman" panose="02020603050405020304" pitchFamily="18" charset="0"/>
                <a:ea typeface="Tahoma" panose="020B0604030504040204" pitchFamily="34" charset="0"/>
                <a:cs typeface="Times New Roman" panose="02020603050405020304" pitchFamily="18" charset="0"/>
              </a:rPr>
              <a:t>Báo</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cáo</a:t>
            </a:r>
            <a:r>
              <a:rPr lang="en-US" b="1" dirty="0">
                <a:latin typeface="Times New Roman" panose="02020603050405020304" pitchFamily="18" charset="0"/>
                <a:ea typeface="Tahoma" panose="020B0604030504040204" pitchFamily="34" charset="0"/>
                <a:cs typeface="Times New Roman" panose="02020603050405020304" pitchFamily="18" charset="0"/>
              </a:rPr>
              <a:t> </a:t>
            </a:r>
            <a:r>
              <a:rPr lang="en-US" b="1" dirty="0" err="1">
                <a:latin typeface="Times New Roman" panose="02020603050405020304" pitchFamily="18" charset="0"/>
                <a:ea typeface="Tahoma" panose="020B0604030504040204" pitchFamily="34" charset="0"/>
                <a:cs typeface="Times New Roman" panose="02020603050405020304" pitchFamily="18" charset="0"/>
              </a:rPr>
              <a:t>lỗi</a:t>
            </a:r>
            <a:endParaRPr lang="en-US"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Chỗ dành sẵn cho Nội dung 2">
            <a:extLst>
              <a:ext uri="{FF2B5EF4-FFF2-40B4-BE49-F238E27FC236}">
                <a16:creationId xmlns:a16="http://schemas.microsoft.com/office/drawing/2014/main" id="{0BFE16D5-D7BF-5789-7C15-C4ACAC9E097F}"/>
              </a:ext>
            </a:extLst>
          </p:cNvPr>
          <p:cNvSpPr>
            <a:spLocks noGrp="1"/>
          </p:cNvSpPr>
          <p:nvPr>
            <p:ph idx="1"/>
          </p:nvPr>
        </p:nvSpPr>
        <p:spPr>
          <a:xfrm>
            <a:off x="-1" y="805543"/>
            <a:ext cx="12192000" cy="6052456"/>
          </a:xfrm>
        </p:spPr>
        <p:txBody>
          <a:bodyPr/>
          <a:lstStyle/>
          <a:p>
            <a:pPr marL="0" indent="0">
              <a:buNone/>
            </a:pPr>
            <a:r>
              <a:rPr lang="en-US" b="1" dirty="0">
                <a:latin typeface="Times New Roman" panose="02020603050405020304" pitchFamily="18" charset="0"/>
                <a:cs typeface="Times New Roman" panose="02020603050405020304" pitchFamily="18" charset="0"/>
              </a:rPr>
              <a:t>7.3. </a:t>
            </a:r>
            <a:r>
              <a:rPr lang="en-US" b="1" dirty="0" err="1">
                <a:latin typeface="Times New Roman" panose="02020603050405020304" pitchFamily="18" charset="0"/>
                <a:cs typeface="Times New Roman" panose="02020603050405020304" pitchFamily="18" charset="0"/>
              </a:rPr>
              <a:t>Biểu</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đồ</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thống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kê</a:t>
            </a:r>
            <a:r>
              <a:rPr lang="en-US" b="1" dirty="0">
                <a:latin typeface="Times New Roman" panose="02020603050405020304" pitchFamily="18" charset="0"/>
                <a:cs typeface="Times New Roman" panose="02020603050405020304" pitchFamily="18" charset="0"/>
              </a:rPr>
              <a:t> bug:</a:t>
            </a:r>
          </a:p>
        </p:txBody>
      </p:sp>
      <p:pic>
        <p:nvPicPr>
          <p:cNvPr id="5" name="Hình ảnh 4">
            <a:extLst>
              <a:ext uri="{FF2B5EF4-FFF2-40B4-BE49-F238E27FC236}">
                <a16:creationId xmlns:a16="http://schemas.microsoft.com/office/drawing/2014/main" id="{984D8765-5E58-EF49-FB36-197B747C6417}"/>
              </a:ext>
            </a:extLst>
          </p:cNvPr>
          <p:cNvPicPr>
            <a:picLocks noChangeAspect="1"/>
          </p:cNvPicPr>
          <p:nvPr/>
        </p:nvPicPr>
        <p:blipFill>
          <a:blip r:embed="rId2"/>
          <a:stretch>
            <a:fillRect/>
          </a:stretch>
        </p:blipFill>
        <p:spPr>
          <a:xfrm>
            <a:off x="167344" y="1437926"/>
            <a:ext cx="11857310" cy="5267673"/>
          </a:xfrm>
          <a:prstGeom prst="rect">
            <a:avLst/>
          </a:prstGeom>
          <a:ln>
            <a:solidFill>
              <a:schemeClr val="tx1"/>
            </a:solidFill>
          </a:ln>
        </p:spPr>
      </p:pic>
    </p:spTree>
    <p:extLst>
      <p:ext uri="{BB962C8B-B14F-4D97-AF65-F5344CB8AC3E}">
        <p14:creationId xmlns:p14="http://schemas.microsoft.com/office/powerpoint/2010/main" val="3294736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1212</TotalTime>
  <Words>2909</Words>
  <Application>Microsoft Office PowerPoint</Application>
  <PresentationFormat>Màn hình rộng</PresentationFormat>
  <Paragraphs>321</Paragraphs>
  <Slides>41</Slides>
  <Notes>0</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41</vt:i4>
      </vt:variant>
    </vt:vector>
  </HeadingPairs>
  <TitlesOfParts>
    <vt:vector size="47" baseType="lpstr">
      <vt:lpstr>Aptos</vt:lpstr>
      <vt:lpstr>Arial</vt:lpstr>
      <vt:lpstr>Calibri</vt:lpstr>
      <vt:lpstr>Calibri Light</vt:lpstr>
      <vt:lpstr>Times New Roman</vt:lpstr>
      <vt:lpstr>Office Theme</vt:lpstr>
      <vt:lpstr>Báo cáo giữa kì  DAST: quét động web app staging bằng công cụ (chỉ báo cáo &amp; khuyến nghị)</vt:lpstr>
      <vt:lpstr>Phần 1: Tổng quan dự án</vt:lpstr>
      <vt:lpstr>Phần 1: Tổng quan dự án</vt:lpstr>
      <vt:lpstr>Phần 1: Tổng quan dự án</vt:lpstr>
      <vt:lpstr>Phần 1: Tổng quan dự án</vt:lpstr>
      <vt:lpstr>Phần 2: Phân tích yêu càu và phạm vi kiểm thử</vt:lpstr>
      <vt:lpstr>Phần 2: Phân tích yêu càu và phạm vi kiểm thử</vt:lpstr>
      <vt:lpstr>Phần 2: Phân tích yêu càu và phạm vi kiểm thử</vt:lpstr>
      <vt:lpstr>Phần 3: Kế hoạch kiểm thử</vt:lpstr>
      <vt:lpstr>Phần 3: Kế hoạch kiểm thử</vt:lpstr>
      <vt:lpstr>Phần 3: Kế hoạch kiểm thử</vt:lpstr>
      <vt:lpstr>Phần 3: Kế hoạch kiểm thử</vt:lpstr>
      <vt:lpstr>Phần 3: Kế hoạch kiểm thử</vt:lpstr>
      <vt:lpstr>Phần 3: Kế hoạch kiểm thử</vt:lpstr>
      <vt:lpstr>Phần 3: Kế hoạch kiểm thử</vt:lpstr>
      <vt:lpstr>Phần 4: Thiết kế ca kiểm thử</vt:lpstr>
      <vt:lpstr>Phần 4: Thiết kế ca kiểm thử</vt:lpstr>
      <vt:lpstr>Phần 4: Thiết kế ca kiểm thử</vt:lpstr>
      <vt:lpstr>Phần 4: Thiết kế ca kiểm thử</vt:lpstr>
      <vt:lpstr>Bản trình bày PowerPoint</vt:lpstr>
      <vt:lpstr>Phần 4: Thiết kế ca kiểm thử</vt:lpstr>
      <vt:lpstr>Phần 4: Thiết kế ca kiểm thử</vt:lpstr>
      <vt:lpstr>Phần 4: Thiết kế ca kiểm thử</vt:lpstr>
      <vt:lpstr>Phần 5: Thực thi kiểm thử</vt:lpstr>
      <vt:lpstr>Phần 5: Thực thi kiểm thử</vt:lpstr>
      <vt:lpstr>Phần 5: Thực thi kiểm thử</vt:lpstr>
      <vt:lpstr>Phần 5: Thực thi kiểm thử</vt:lpstr>
      <vt:lpstr>Phần 5: Thực thi kiểm thử</vt:lpstr>
      <vt:lpstr>Phần 6: Kiểm thử tự động</vt:lpstr>
      <vt:lpstr>Phần 6: Kiểm thử tự động</vt:lpstr>
      <vt:lpstr>Phần 6: Kiểm thử tự động</vt:lpstr>
      <vt:lpstr>Phần 6: Kiểm thử tự động</vt:lpstr>
      <vt:lpstr>Phần 6: Kiểm thử tự động</vt:lpstr>
      <vt:lpstr>Phần 6: Kiểm thử tự động</vt:lpstr>
      <vt:lpstr>Phần 6: Kiểm thử tự động</vt:lpstr>
      <vt:lpstr>Phần 6: Kiểm thử tự động</vt:lpstr>
      <vt:lpstr>Phần 6: Kiểm thử tự động</vt:lpstr>
      <vt:lpstr>Phần 6: Kiểm thử tự động</vt:lpstr>
      <vt:lpstr>Phần 7: Báo cáo lỗi</vt:lpstr>
      <vt:lpstr>Phần 7: Báo cáo lỗi</vt:lpstr>
      <vt:lpstr>Phần 7: Báo cáo lỗi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Trung</dc:creator>
  <cp:lastModifiedBy>Khôi Trần Nguyễn Minh</cp:lastModifiedBy>
  <cp:revision>47</cp:revision>
  <dcterms:created xsi:type="dcterms:W3CDTF">2025-12-14T08:32:07Z</dcterms:created>
  <dcterms:modified xsi:type="dcterms:W3CDTF">2026-03-17T07:44:56Z</dcterms:modified>
</cp:coreProperties>
</file>